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E2761"/>
                </a:solidFill>
                <a:latin typeface="Calibri"/>
              </a:defRPr>
            </a:pPr>
            <a:r>
              <a:rPr sz="1300" b="0" i="0" u="none" strike="noStrike">
                <a:solidFill>
                  <a:srgbClr val="1E2761"/>
                </a:solidFill>
                <a:latin typeface="Calibri"/>
              </a:rPr>
              <a:t>อัตรา Transaction ต่อ Batch — พุ่งขึ้น 10 เท่าช่วง Flash Sale</a:t>
            </a:r>
          </a:p>
        </c:rich>
      </c:tx>
      <c:layout/>
      <c:overlay val="0"/>
    </c:title>
    <c:autoTitleDeleted val="0"/>
    <c:plotArea>
      <c:layout/>
      <c:barChart>
        <c:barDir val="col"/>
        <c:grouping val="clustered"/>
        <c:varyColors val="0"/>
        <c:ser>
          <c:idx val="0"/>
          <c:order val="0"/>
          <c:tx>
            <c:strRef>
              <c:f>Sheet1!$B$1</c:f>
              <c:strCache>
                <c:ptCount val="1"/>
                <c:pt idx="0">
                  <c:v>Records ต่อ Batch (5 วินาที)</c:v>
                </c:pt>
              </c:strCache>
            </c:strRef>
          </c:tx>
          <c:spPr>
            <a:solidFill>
              <a:srgbClr val="CADCFC"/>
            </a:solidFill>
            <a:effectLst/>
          </c:spPr>
          <c:invertIfNegative val="0"/>
          <c:dLbls>
            <c:numFmt formatCode="#,##0" sourceLinked="0"/>
            <c:txPr>
              <a:bodyPr/>
              <a:lstStyle/>
              <a:p>
                <a:pPr>
                  <a:defRPr b="0" i="0" strike="noStrike" sz="1200" u="none">
                    <a:solidFill>
                      <a:srgbClr val="1E2761"/>
                    </a:solidFill>
                    <a:latin typeface="Arial"/>
                  </a:defRPr>
                </a:pPr>
              </a:p>
            </c:txPr>
            <c:showLegendKey val="0"/>
            <c:showVal val="1"/>
            <c:showCatName val="0"/>
            <c:showSerName val="0"/>
            <c:showPercent val="0"/>
            <c:showBubbleSize val="0"/>
            <c:showLeaderLines val="0"/>
          </c:dLbls>
          <c:dPt>
            <c:idx val="0"/>
            <c:invertIfNegative val="0"/>
            <c:bubble3D val="0"/>
            <c:spPr>
              <a:solidFill>
                <a:srgbClr val="CADCFC"/>
              </a:solidFill>
              <a:effectLst/>
            </c:spPr>
          </c:dPt>
          <c:dPt>
            <c:idx val="1"/>
            <c:invertIfNegative val="0"/>
            <c:bubble3D val="0"/>
            <c:spPr>
              <a:solidFill>
                <a:srgbClr val="B3261E"/>
              </a:solidFill>
              <a:effectLst/>
            </c:spPr>
          </c:dPt>
          <c:dPt>
            <c:idx val="2"/>
            <c:invertIfNegative val="0"/>
            <c:bubble3D val="0"/>
            <c:spPr>
              <a:solidFill>
                <a:srgbClr val="CADCFC"/>
              </a:solidFill>
              <a:effectLst/>
            </c:spPr>
          </c:dPt>
          <c:cat>
            <c:multiLvlStrRef>
              <c:f>Sheet1!$A$2:$A$4</c:f>
              <c:multiLvlStrCache>
                <c:ptCount val="3"/>
                <c:lvl>
                  <c:pt idx="0">
                    <c:v>ปกติ
(t=0-20s)</c:v>
                  </c:pt>
                  <c:pt idx="1">
                    <c:v>Flash Sale
(t=25-40s)</c:v>
                  </c:pt>
                  <c:pt idx="2">
                    <c:v>กลับสู่ปกติ
(t=45-95s)</c:v>
                  </c:pt>
                </c:lvl>
              </c:multiLvlStrCache>
            </c:multiLvlStrRef>
          </c:cat>
          <c:val>
            <c:numRef>
              <c:f>Sheet1!$B$2:$B$4</c:f>
              <c:numCache>
                <c:formatCode>General</c:formatCode>
                <c:ptCount val="3"/>
                <c:pt idx="0">
                  <c:v>10</c:v>
                </c:pt>
                <c:pt idx="1">
                  <c:v>100</c:v>
                </c:pt>
                <c:pt idx="2">
                  <c:v>10</c:v>
                </c:pt>
              </c:numCache>
            </c:numRef>
          </c:val>
        </c:ser>
        <c:dLbls>
          <c:numFmt formatCode="#,##0" sourceLinked="0"/>
          <c:txPr>
            <a:bodyPr/>
            <a:lstStyle/>
            <a:p>
              <a:pPr>
                <a:defRPr b="0" i="0" strike="noStrike" sz="1200" u="none">
                  <a:solidFill>
                    <a:srgbClr val="1E2761"/>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472"/>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7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4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50" b="0" i="0" u="none" strike="noStrike">
                <a:solidFill>
                  <a:srgbClr val="1E2761"/>
                </a:solidFill>
                <a:latin typeface="Calibri"/>
              </a:defRPr>
            </a:pPr>
            <a:r>
              <a:rPr sz="1250" b="0" i="0" u="none" strike="noStrike">
                <a:solidFill>
                  <a:srgbClr val="1E2761"/>
                </a:solidFill>
                <a:latin typeface="Calibri"/>
              </a:rPr>
              <a:t>ยอดขายรายช่วงเวลา (ข้อมูลจริงจาก pos_data) — Flash Sale ชัดเจน</a:t>
            </a:r>
          </a:p>
        </c:rich>
      </c:tx>
      <c:layout/>
      <c:overlay val="0"/>
    </c:title>
    <c:autoTitleDeleted val="0"/>
    <c:plotArea>
      <c:layout/>
      <c:barChart>
        <c:barDir val="col"/>
        <c:grouping val="clustered"/>
        <c:varyColors val="0"/>
        <c:ser>
          <c:idx val="0"/>
          <c:order val="0"/>
          <c:tx>
            <c:strRef>
              <c:f>Sheet1!$B$1</c:f>
              <c:strCache>
                <c:ptCount val="1"/>
                <c:pt idx="0">
                  <c:v>Revenue (THB)</c:v>
                </c:pt>
              </c:strCache>
            </c:strRef>
          </c:tx>
          <c:spPr>
            <a:solidFill>
              <a:srgbClr val="1E276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46:30</c:v>
                  </c:pt>
                  <c:pt idx="1">
                    <c:v>46:45</c:v>
                  </c:pt>
                  <c:pt idx="2">
                    <c:v>47:00</c:v>
                  </c:pt>
                  <c:pt idx="3">
                    <c:v>47:15</c:v>
                  </c:pt>
                  <c:pt idx="4">
                    <c:v>47:30</c:v>
                  </c:pt>
                  <c:pt idx="5">
                    <c:v>47:45</c:v>
                  </c:pt>
                  <c:pt idx="6">
                    <c:v>48:00</c:v>
                  </c:pt>
                  <c:pt idx="7">
                    <c:v>48:15</c:v>
                  </c:pt>
                </c:lvl>
              </c:multiLvlStrCache>
            </c:multiLvlStrRef>
          </c:cat>
          <c:val>
            <c:numRef>
              <c:f>Sheet1!$B$2:$B$9</c:f>
              <c:numCache>
                <c:formatCode>General</c:formatCode>
                <c:ptCount val="8"/>
                <c:pt idx="0">
                  <c:v>1150</c:v>
                </c:pt>
                <c:pt idx="1">
                  <c:v>3764</c:v>
                </c:pt>
                <c:pt idx="2">
                  <c:v>25677</c:v>
                </c:pt>
                <c:pt idx="3">
                  <c:v>24198</c:v>
                </c:pt>
                <c:pt idx="4">
                  <c:v>3233</c:v>
                </c:pt>
                <c:pt idx="5">
                  <c:v>4433</c:v>
                </c:pt>
                <c:pt idx="6">
                  <c:v>3274</c:v>
                </c:pt>
                <c:pt idx="7">
                  <c:v>1093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472"/>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7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4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สวัสดีครับ ผมชื่อนายกันต์กวี รามศรี รหัสนักศึกษา 6900102365 วันนี้จะมานำเสนองาน Real-Time Data Pipeline Architecture และระบบตรวจจับความผิดปกติสำหรับระบบ POS ขององค์กรครับ โดยจะครอบคลุมทั้ง 4 Task ตามที่โจทย์กำหนด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ก่อนเข้าเนื้อหา ขอสรุปภาพรวมก่อนนะครับ งานนี้แบ่งเป็น 4 ส่วน — Task 1 คือการจำลองข้อมูลการขายและสถานการณ์ผิดปกติ, Task 2 คือระบบดึงข้อมูลอัตโนมัติด้วย Airflow ที่ทนทานต่อความผิดพลาด, Task 3 คือ Dashboard แสดงผลแบบสด, และ Task 4 คือรายงานเปรียบเทียบประสิทธิภาพพร้อมข้อเสนอขยายระบบ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นี่คือภาพรวมของทั้งระบบครับ เริ่มจาก Workload Generator ที่จำลองข้อมูลการขาย ส่งเป็นไฟล์ไปวางไว้ที่ Landing Directory จากนั้น Airflow DAG จะคอยตรวจจับไฟล์ใหม่ ดึงเข้ามาตรวจสอบแล้วบันทึกลง PostgreSQL แล้วข้อมูลนี้จะถูกนำไปแสดงผลใน Dashboard และถ้าเจอความผิดปกติ ระบบจะส่งการแจ้งเตือนแยกออกไปอีกทางหนึ่งด้วยครับ ทุกขั้นตอนถูกออกแบบให้ Idempotent คือรันซ้ำกี่ครั้งข้อมูลก็ไม่ซ้ำซ้อน ซึ่งผมทดสอบจริงแล้วครับ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เริ่มที่ Task 1 ครับ ผมเขียน Python script ขึ้นมาจำลองสถานการณ์จริงของร้าน POS สี่แบบ — อย่างแรกคือ Flash Sale ยอดขายพุ่งขึ้น 10 เท่าในช่วงเวลาสั้นๆ, อย่างที่สองคือข้อมูลมาช้ากว่าเวลาจริง เหมือนเครื่อง POS เน็ตหลุดแล้วข้อมูลมาทีหลัง, อย่างที่สามคือรายการซื้อขายซ้ำ เหมือนบิลเดียวกันถูกส่งเข้ามาสองรอบ, และสุดท้ายคือยอดเงินติดลบ ซึ่งเป็นข้อมูลที่ผิดปกติไม่ควรเกิดขึ้นจริง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ผมรัน script นี้จริงบนเครื่อง ได้ผลลัพธ์ตามกราฟนี้ครับ จะเห็นว่าช่วง Flash Sale อัตราการส่งข้อมูลพุ่งขึ้นจาก 10 เป็น 100 records ต่อ batch คือ 10 เท่าตามที่ออกแบบไว้พอดี รวมทั้งหมดสร้างข้อมูลไป 560 รายการ มีความผิดปกติที่ inject เข้าไปโดยตั้งใจ 62 รายการ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มาถึง Task 2 ซึ่งเป็นส่วนที่ผมให้ความสำคัญมากที่สุด เพราะเป็นหัวใจของระบบ Ingestion Pipeline นี้ผมออกแบบด้วย TaskFlow API ของ Airflow ตามมาตรฐาน Clean Code มีสี่ feature หลักคือ Deferrable Operator, TaskFlow API กับ XCom, Idempotency และ Data Cleanse, และระบบแจ้งเตือนอัตโนมัติ ซึ่งผมจะอธิบายทีละส่วนครับ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ตรงนี้คือส่วนสำคัญที่สุดของ Task 2 ครับ ปกติถ้าโปรแกรมต้อง 'รอ' อะไรบางอย่าง เช่นรอไฟล์ใหม่ วิธีเดิมคือ mode แบบ poke ซึ่งจะครอบครอง worker slot ไว้ตลอดเวลาที่รอ เหมือนคนจองที่นั่งไว้เฉยๆ ทั้งที่ยังไม่ถึงคิว ส่วน mode reschedule จะดีขึ้นมาหน่อยคือคืน slot บางช่วง แต่ที่ผมเลือกใช้คือ Deferrable Operator ซึ่งจะคืน worker slot ทั้งหมดระหว่างรอ ให้ตัว Triggerer เป็นคนจัดการแทน ผมทดสอบจริงแล้วเห็นว่า state ของ task เปลี่ยนเป็น deferred ตรงตามที่ออกแบบไว้ทุกกรณีครับ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อีกจุดที่โจทย์เน้นมากคือ Idempotency หรือการรันซ้ำแล้วข้อมูลไม่ซ้ำซ้อน ผมใช้คำสั่ง SQL แบบ ON CONFLICT DO UPDATE ตามที่เห็นในโค้ดนี้ครับ และผมทดสอบจริงโดยเอาไฟล์เดิมมา process ซ้ำสองรอบ ผลคือจำนวนแถวในฐานข้อมูลยังคงเป็น 58 แถวเท่าเดิม ไม่เพิ่มขึ้นเลย และสำหรับข้อมูลที่ผิดปกติ ผมไม่ได้ทิ้งทันทีนะครับ แต่จะ flag ไว้ให้ตรวจสอบภายหลังแทน เพื่อรักษาความถูกต้องของฐานข้อมูล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สุดท้ายของ Task 2 คือระบบแจ้งเตือนอัตโนมัติครับ เมื่อ pipeline ประมวลผลเสร็จแล้วพบว่ามีความผิดปกติ ระบบจะประกอบข้อความแล้วส่งผ่าน Telegram Bot หรือ Slack Webhook โดยอัตโนมัติ ตอนนี้ผมยังไม่ได้ผูก token จริง เลยรันเป็นโหมด dry-run ที่บันทึก log ข้อความไว้แทน แต่ logic ทั้งหมดพร้อมใช้งานจริงทันทีที่ใส่ token เข้าไปครับ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มาที่ Task 3 ครับ ผมสร้าง Dashboard ด้วย Streamlit ที่ดึงข้อมูลจาก PostgreSQL มาแสดงแบบสด กราฟนี้เป็นข้อมูลจริงจากฐานข้อมูล จะเห็น Flash Sale ที่ทำให้ยอดขายพุ่งขึ้นชัดเจนมาก นอกจากยอดขายรวมแล้ว Dashboard ยังคำนวณค่าเฉลี่ยเคลื่อนที่หรือ Moving Average ซ้อนบนกราฟ และไฮไลต์รายการที่ผิดปกติด้วยสีแดงในตารางด้านล่างด้วยครับ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และที่สำคัญคือ Dashboard นี้ไม่ได้รันอยู่แค่ในเครื่องผมนะครับ แต่ผม deploy ขึ้นไปจริงแล้ว โดยใช้ Streamlit Community Cloud เชื่อมกับ GitHub repository และย้ายฐานข้อมูลไปไว้บน Neon ซึ่งเป็น PostgreSQL แบบสาธารณะ ตอนนี้ใครก็เข้าดูผ่านลิงก์ HTTPS นี้ได้เลยครับ ทุกส่วนของ Task 3 เสร็จสมบูรณ์ตามเกณฑ์ที่โจทย์กำหนด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ต่อมาคือ Task 4 ครับ ผมต้องการเปรียบเทียบว่า sensor สามแบบที่พูดถึงก่อนหน้านี้ ต่างกันแค่ไหนจริงๆ เลยเขียน DAG สามตัวที่เหมือนกันทุกอย่าง ต่างกันแค่โหมดของ sensor แล้ววัดผลจริงโดยดู state ของ task และ resource การใช้งาน CPU ของ container ในช่วงที่ sensor กำลังรออยู่ ทุกอย่างรันจริงบน docker-compose stack ของโปรเจกต์นี้ครับ ไม่ใช่ผลจำลอง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นี่คือผลลัพธ์จริงที่วัดได้ครับ จะเห็นว่า state ของ task ตรงตามที่ออกแบบไว้ทุกโหมด — poke จะค้างอยู่ที่ running ตลอด, reschedule จะสลับไปมา, ส่วน deferrable จะไปอยู่ที่ deferred ซึ่งหมายความว่าไม่ได้ครอบครอง worker slot เลย ส่วนตัวเลข CPU ผมขอเรียนตรงๆ ว่ายังไม่ใช่ตัวชี้วัดที่แม่นยำนักที่ scale เล็กแบบนี้ เพราะมันถูกรบกวนจาก housekeeping ของ Airflow เอง แต่ state ของ task คือหลักฐานที่ชัดเจนที่สุดครับ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สุดท้ายผมเขียนข้อเสนอว่า ถ้าระบบต้องขยายไปรองรับ 10,000 transaction ต่อวินาที จะต้องเปลี่ยนอะไรบ้าง เพราะระบบปัจจุบันที่ใช้การรับไฟล์แบบ batch จะรับมือไม่ไหวแน่นอน สิ่งที่ต้องเปลี่ยนหลักๆ คือเปลี่ยนจากการรับไฟล์เป็น Apache Kafka ที่รับข้อมูลแบบ stream ต่อเนื่อง เปลี่ยนจาก Airflow batch DAG เป็นตัวประมวลผลแบบ Flink หรือ Kafka Streams ที่ทำงานต่อเนื่องตลอดเวลา และเปลี่ยนฐานข้อมูลจาก PostgreSQL แบบ row-store เป็นฐานข้อมูลแบบ Columnar อย่าง ClickHouse ที่เหมาะกับงานวิเคราะห์ข้อมูลปริมาณมากครับ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สรุปภาพรวมทั้งหมดเทียบกับเกณฑ์การประเมินนะครับ — ด้าน System Resilience ผมพิสูจน์ Idempotency ด้วยการทดสอบจริง ด้าน Airflow Architecture ผมใช้ Deferrable Operator ร่วมกับ TaskFlow API และยืนยัน state จริงตรงตามที่ออกแบบ ด้านรายงานผมมีผลการทดสอบเชิงตัวเลขจริงพร้อมข้อเสนอขยายระบบ และด้าน Dashboard ผม deploy ขึ้นสู่สาธารณะผ่าน HTTPS เรียบร้อยแล้วครับ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งานนี้ผมตั้งใจทำให้ทุกส่วนรันได้จริง ไม่ใช่แค่ทฤษฎีครับ ขอบคุณที่รับชมครับ หากมีคำถามยินดีตอบครับ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0" y="0"/>
            <a:ext cx="91440" cy="91440"/>
          </a:xfrm>
          <a:prstGeom prst="rect">
            <a:avLst/>
          </a:prstGeom>
          <a:noFill/>
          <a:ln/>
        </p:spPr>
        <p:txBody>
          <a:bodyPr wrap="square" rtlCol="0" anchor="ctr"/>
          <a:lstStyle/>
          <a:p>
            <a:pPr indent="0" marL="0">
              <a:buNone/>
            </a:pPr>
            <a:endParaRPr lang="en-US" dirty="0"/>
          </a:p>
        </p:txBody>
      </p:sp>
      <p:sp>
        <p:nvSpPr>
          <p:cNvPr id="25" name="Slide Number Placeholder 0"/>
          <p:cNvSpPr>
            <a:spLocks noGrp="1"/>
          </p:cNvSpPr>
          <p:nvPr>
            <p:ph type="sldNum" sz="quarter" idx="4294967295"/>
          </p:nvPr>
        </p:nvSpPr>
        <p:spPr>
          <a:xfrm>
            <a:off x="1156716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CADCFC"/>
                </a:solidFill>
                <a:latin typeface="Calibri"/>
                <a:ea typeface="Calibri"/>
                <a:cs typeface="Calibri"/>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6716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6716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CADCFC"/>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Shape 0"/>
          <p:cNvSpPr/>
          <p:nvPr/>
        </p:nvSpPr>
        <p:spPr>
          <a:xfrm>
            <a:off x="9692640" y="-1463040"/>
            <a:ext cx="4389120" cy="4389120"/>
          </a:xfrm>
          <a:prstGeom prst="ellipse">
            <a:avLst/>
          </a:prstGeom>
          <a:solidFill>
            <a:srgbClr val="26307A"/>
          </a:solidFill>
          <a:ln/>
        </p:spPr>
      </p:sp>
      <p:sp>
        <p:nvSpPr>
          <p:cNvPr id="4" name="Shape 1"/>
          <p:cNvSpPr/>
          <p:nvPr/>
        </p:nvSpPr>
        <p:spPr>
          <a:xfrm>
            <a:off x="-1280160" y="4754880"/>
            <a:ext cx="3291840" cy="3291840"/>
          </a:xfrm>
          <a:prstGeom prst="ellipse">
            <a:avLst/>
          </a:prstGeom>
          <a:solidFill>
            <a:srgbClr val="26307A"/>
          </a:solidFill>
          <a:ln/>
        </p:spPr>
      </p:sp>
      <p:sp>
        <p:nvSpPr>
          <p:cNvPr id="5" name="Text 2"/>
          <p:cNvSpPr txBox="1"/>
          <p:nvPr/>
        </p:nvSpPr>
        <p:spPr>
          <a:xfrm>
            <a:off x="822960" y="1554480"/>
            <a:ext cx="10515600" cy="457200"/>
          </a:xfrm>
          <a:prstGeom prst="rect">
            <a:avLst/>
          </a:prstGeom>
          <a:noFill/>
          <a:ln/>
        </p:spPr>
        <p:txBody>
          <a:bodyPr wrap="square" lIns="0" tIns="0" rIns="0" bIns="0" rtlCol="0" anchor="ctr"/>
          <a:lstStyle/>
          <a:p>
            <a:pPr indent="0" marL="0">
              <a:buNone/>
            </a:pPr>
            <a:r>
              <a:rPr lang="en-US" sz="1400" b="1" spc="300" kern="0" dirty="0">
                <a:solidFill>
                  <a:srgbClr val="CADCFC"/>
                </a:solidFill>
                <a:latin typeface="Calibri" pitchFamily="34" charset="0"/>
                <a:ea typeface="Calibri" pitchFamily="34" charset="-122"/>
                <a:cs typeface="Calibri" pitchFamily="34" charset="-120"/>
              </a:rPr>
              <a:t>REAL-TIME DATA PIPELINE ARCHITECTURE</a:t>
            </a:r>
            <a:endParaRPr lang="en-US" sz="1400" dirty="0"/>
          </a:p>
        </p:txBody>
      </p:sp>
      <p:sp>
        <p:nvSpPr>
          <p:cNvPr id="6" name="Text 3"/>
          <p:cNvSpPr txBox="1"/>
          <p:nvPr/>
        </p:nvSpPr>
        <p:spPr>
          <a:xfrm>
            <a:off x="822960" y="2011680"/>
            <a:ext cx="10515600" cy="173736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Real-Time Data Pipeline Architecture &amp; Anomaly Detection</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System for Enterprise POS</a:t>
            </a:r>
            <a:endParaRPr lang="en-US" sz="4000" dirty="0"/>
          </a:p>
        </p:txBody>
      </p:sp>
      <p:sp>
        <p:nvSpPr>
          <p:cNvPr id="7" name="Text 4"/>
          <p:cNvSpPr txBox="1"/>
          <p:nvPr/>
        </p:nvSpPr>
        <p:spPr>
          <a:xfrm>
            <a:off x="822960" y="3703320"/>
            <a:ext cx="9875520" cy="548640"/>
          </a:xfrm>
          <a:prstGeom prst="rect">
            <a:avLst/>
          </a:prstGeom>
          <a:noFill/>
          <a:ln/>
        </p:spPr>
        <p:txBody>
          <a:bodyPr wrap="square" lIns="0" tIns="0" rIns="0" bIns="0" rtlCol="0" anchor="ctr"/>
          <a:lstStyle/>
          <a:p>
            <a:pPr indent="0" marL="0">
              <a:buNone/>
            </a:pPr>
            <a:r>
              <a:rPr lang="en-US" sz="1400" i="1" dirty="0">
                <a:solidFill>
                  <a:srgbClr val="CADCFC"/>
                </a:solidFill>
                <a:latin typeface="Calibri" pitchFamily="34" charset="0"/>
                <a:ea typeface="Calibri" pitchFamily="34" charset="-122"/>
                <a:cs typeface="Calibri" pitchFamily="34" charset="-120"/>
              </a:rPr>
              <a:t>Task 1-4: Workload Generation · Resilient Airflow Ingestion · Live Analytics Dashboard · Architectural Benchmark Report</a:t>
            </a:r>
            <a:endParaRPr lang="en-US" sz="1400" dirty="0"/>
          </a:p>
        </p:txBody>
      </p:sp>
      <p:sp>
        <p:nvSpPr>
          <p:cNvPr id="8" name="Shape 5"/>
          <p:cNvSpPr/>
          <p:nvPr/>
        </p:nvSpPr>
        <p:spPr>
          <a:xfrm>
            <a:off x="822960" y="4937760"/>
            <a:ext cx="5120640" cy="1234440"/>
          </a:xfrm>
          <a:prstGeom prst="rect">
            <a:avLst/>
          </a:prstGeom>
          <a:solidFill>
            <a:srgbClr val="141B4D"/>
          </a:solidFill>
          <a:ln/>
        </p:spPr>
      </p:sp>
      <p:sp>
        <p:nvSpPr>
          <p:cNvPr id="9" name="Text 6"/>
          <p:cNvSpPr txBox="1"/>
          <p:nvPr/>
        </p:nvSpPr>
        <p:spPr>
          <a:xfrm>
            <a:off x="1051560" y="5074920"/>
            <a:ext cx="4663440" cy="10058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นายกันต์กวี รามศรี</a:t>
            </a:r>
            <a:endParaRPr lang="en-US" sz="1600" dirty="0"/>
          </a:p>
          <a:p>
            <a:pPr indent="0" marL="0">
              <a:buNone/>
            </a:pPr>
            <a:r>
              <a:rPr lang="en-US" sz="1300" dirty="0">
                <a:solidFill>
                  <a:srgbClr val="CADCFC"/>
                </a:solidFill>
                <a:latin typeface="Calibri" pitchFamily="34" charset="0"/>
                <a:ea typeface="Calibri" pitchFamily="34" charset="-122"/>
                <a:cs typeface="Calibri" pitchFamily="34" charset="-120"/>
              </a:rPr>
              <a:t>รหัสนักศึกษา 6900102365</a:t>
            </a:r>
            <a:endParaRPr lang="en-US" sz="1600" dirty="0"/>
          </a:p>
          <a:p>
            <a:pPr indent="0" marL="0">
              <a:buNone/>
            </a:pPr>
            <a:r>
              <a:rPr lang="en-US" sz="1300" dirty="0">
                <a:solidFill>
                  <a:srgbClr val="CADCFC"/>
                </a:solidFill>
                <a:latin typeface="Calibri" pitchFamily="34" charset="0"/>
                <a:ea typeface="Calibri" pitchFamily="34" charset="-122"/>
                <a:cs typeface="Calibri" pitchFamily="34" charset="-120"/>
              </a:rPr>
              <a:t>นำเสนอวันที่ 15 กันยายน 2569</a:t>
            </a:r>
            <a:endParaRPr lang="en-US" sz="1600" dirty="0"/>
          </a:p>
        </p:txBody>
      </p:sp>
      <p:sp>
        <p:nvSpPr>
          <p:cNvPr id="25" name="Slide Number Placeholder 0"/>
          <p:cNvSpPr>
            <a:spLocks noGrp="1"/>
          </p:cNvSpPr>
          <p:nvPr>
            <p:ph type="sldNum" sz="quarter" idx="4294967295"/>
          </p:nvPr>
        </p:nvSpPr>
        <p:spPr>
          <a:xfrm>
            <a:off x="1156716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CADCFC"/>
                </a:solidFill>
                <a:latin typeface="Calibri"/>
                <a:ea typeface="Calibri"/>
                <a:cs typeface="Calibri"/>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txBox="1"/>
          <p:nvPr/>
        </p:nvSpPr>
        <p:spPr>
          <a:xfrm>
            <a:off x="548640" y="365760"/>
            <a:ext cx="5486400" cy="320040"/>
          </a:xfrm>
          <a:prstGeom prst="rect">
            <a:avLst/>
          </a:prstGeom>
          <a:noFill/>
          <a:ln/>
        </p:spPr>
        <p:txBody>
          <a:bodyPr wrap="square" lIns="0" tIns="0" rIns="0" bIns="0"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AGENDA</a:t>
            </a:r>
            <a:endParaRPr lang="en-US" sz="1200" dirty="0"/>
          </a:p>
        </p:txBody>
      </p:sp>
      <p:sp>
        <p:nvSpPr>
          <p:cNvPr id="4" name="Text 1"/>
          <p:cNvSpPr txBox="1"/>
          <p:nvPr/>
        </p:nvSpPr>
        <p:spPr>
          <a:xfrm>
            <a:off x="548640" y="658368"/>
            <a:ext cx="110642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วัตถุประสงค์และขอบเขตการนำเสนอ</a:t>
            </a:r>
            <a:endParaRPr lang="en-US" sz="3000" dirty="0"/>
          </a:p>
        </p:txBody>
      </p:sp>
      <p:sp>
        <p:nvSpPr>
          <p:cNvPr id="5" name="Shape 2"/>
          <p:cNvSpPr/>
          <p:nvPr/>
        </p:nvSpPr>
        <p:spPr>
          <a:xfrm>
            <a:off x="548640" y="1783080"/>
            <a:ext cx="11064240" cy="1051560"/>
          </a:xfrm>
          <a:prstGeom prst="roundRect">
            <a:avLst>
              <a:gd name="adj" fmla="val 6957"/>
            </a:avLst>
          </a:prstGeom>
          <a:solidFill>
            <a:srgbClr val="F3F5FB"/>
          </a:solidFill>
          <a:ln/>
        </p:spPr>
      </p:sp>
      <p:sp>
        <p:nvSpPr>
          <p:cNvPr id="6" name="Shape 3"/>
          <p:cNvSpPr/>
          <p:nvPr/>
        </p:nvSpPr>
        <p:spPr>
          <a:xfrm>
            <a:off x="868680" y="2039112"/>
            <a:ext cx="548640" cy="548640"/>
          </a:xfrm>
          <a:prstGeom prst="ellipse">
            <a:avLst/>
          </a:prstGeom>
          <a:solidFill>
            <a:srgbClr val="1E2761"/>
          </a:solidFill>
          <a:ln/>
        </p:spPr>
      </p:sp>
      <p:sp>
        <p:nvSpPr>
          <p:cNvPr id="7" name="Text 4"/>
          <p:cNvSpPr txBox="1"/>
          <p:nvPr/>
        </p:nvSpPr>
        <p:spPr>
          <a:xfrm>
            <a:off x="868680" y="2039112"/>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01</a:t>
            </a:r>
            <a:endParaRPr lang="en-US" sz="1600" dirty="0"/>
          </a:p>
        </p:txBody>
      </p:sp>
      <p:sp>
        <p:nvSpPr>
          <p:cNvPr id="8" name="Text 5"/>
          <p:cNvSpPr txBox="1"/>
          <p:nvPr/>
        </p:nvSpPr>
        <p:spPr>
          <a:xfrm>
            <a:off x="1691640" y="1911096"/>
            <a:ext cx="9601200" cy="384048"/>
          </a:xfrm>
          <a:prstGeom prst="rect">
            <a:avLst/>
          </a:prstGeom>
          <a:noFill/>
          <a:ln/>
        </p:spPr>
        <p:txBody>
          <a:bodyPr wrap="square" lIns="0" tIns="0" rIns="0" bIns="0"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Task 1 — Advanced Workload &amp; Edge Case Generation</a:t>
            </a:r>
            <a:endParaRPr lang="en-US" sz="1600" dirty="0"/>
          </a:p>
        </p:txBody>
      </p:sp>
      <p:sp>
        <p:nvSpPr>
          <p:cNvPr id="9" name="Text 6"/>
          <p:cNvSpPr txBox="1"/>
          <p:nvPr/>
        </p:nvSpPr>
        <p:spPr>
          <a:xfrm>
            <a:off x="1691640" y="2295144"/>
            <a:ext cx="9601200" cy="384048"/>
          </a:xfrm>
          <a:prstGeom prst="rect">
            <a:avLst/>
          </a:prstGeom>
          <a:noFill/>
          <a:ln/>
        </p:spPr>
        <p:txBody>
          <a:bodyPr wrap="square" lIns="0" tIns="0" rIns="0" bIns="0" rtlCol="0" anchor="ctr"/>
          <a:lstStyle/>
          <a:p>
            <a:pPr indent="0" marL="0">
              <a:buNone/>
            </a:pPr>
            <a:r>
              <a:rPr lang="en-US" sz="1250" dirty="0">
                <a:solidFill>
                  <a:srgbClr val="5B6472"/>
                </a:solidFill>
                <a:latin typeface="Calibri" pitchFamily="34" charset="0"/>
                <a:ea typeface="Calibri" pitchFamily="34" charset="-122"/>
                <a:cs typeface="Calibri" pitchFamily="34" charset="-120"/>
              </a:rPr>
              <a:t>จำลอง Flash Sale, Late-Arriving Data และ Data Quality Issues ในระบบ POS จริง</a:t>
            </a:r>
            <a:endParaRPr lang="en-US" sz="1250" dirty="0"/>
          </a:p>
        </p:txBody>
      </p:sp>
      <p:sp>
        <p:nvSpPr>
          <p:cNvPr id="10" name="Shape 7"/>
          <p:cNvSpPr/>
          <p:nvPr/>
        </p:nvSpPr>
        <p:spPr>
          <a:xfrm>
            <a:off x="548640" y="2971800"/>
            <a:ext cx="11064240" cy="1051560"/>
          </a:xfrm>
          <a:prstGeom prst="roundRect">
            <a:avLst>
              <a:gd name="adj" fmla="val 6957"/>
            </a:avLst>
          </a:prstGeom>
          <a:solidFill>
            <a:srgbClr val="F3F5FB"/>
          </a:solidFill>
          <a:ln/>
        </p:spPr>
      </p:sp>
      <p:sp>
        <p:nvSpPr>
          <p:cNvPr id="11" name="Shape 8"/>
          <p:cNvSpPr/>
          <p:nvPr/>
        </p:nvSpPr>
        <p:spPr>
          <a:xfrm>
            <a:off x="868680" y="3227832"/>
            <a:ext cx="548640" cy="548640"/>
          </a:xfrm>
          <a:prstGeom prst="ellipse">
            <a:avLst/>
          </a:prstGeom>
          <a:solidFill>
            <a:srgbClr val="1E2761"/>
          </a:solidFill>
          <a:ln/>
        </p:spPr>
      </p:sp>
      <p:sp>
        <p:nvSpPr>
          <p:cNvPr id="12" name="Text 9"/>
          <p:cNvSpPr txBox="1"/>
          <p:nvPr/>
        </p:nvSpPr>
        <p:spPr>
          <a:xfrm>
            <a:off x="868680" y="3227832"/>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02</a:t>
            </a:r>
            <a:endParaRPr lang="en-US" sz="1600" dirty="0"/>
          </a:p>
        </p:txBody>
      </p:sp>
      <p:sp>
        <p:nvSpPr>
          <p:cNvPr id="13" name="Text 10"/>
          <p:cNvSpPr txBox="1"/>
          <p:nvPr/>
        </p:nvSpPr>
        <p:spPr>
          <a:xfrm>
            <a:off x="1691640" y="3099816"/>
            <a:ext cx="9601200" cy="384048"/>
          </a:xfrm>
          <a:prstGeom prst="rect">
            <a:avLst/>
          </a:prstGeom>
          <a:noFill/>
          <a:ln/>
        </p:spPr>
        <p:txBody>
          <a:bodyPr wrap="square" lIns="0" tIns="0" rIns="0" bIns="0"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Task 2 — Resilient Airflow Ingestion Pipeline</a:t>
            </a:r>
            <a:endParaRPr lang="en-US" sz="1600" dirty="0"/>
          </a:p>
        </p:txBody>
      </p:sp>
      <p:sp>
        <p:nvSpPr>
          <p:cNvPr id="14" name="Text 11"/>
          <p:cNvSpPr txBox="1"/>
          <p:nvPr/>
        </p:nvSpPr>
        <p:spPr>
          <a:xfrm>
            <a:off x="1691640" y="3483864"/>
            <a:ext cx="9601200" cy="384048"/>
          </a:xfrm>
          <a:prstGeom prst="rect">
            <a:avLst/>
          </a:prstGeom>
          <a:noFill/>
          <a:ln/>
        </p:spPr>
        <p:txBody>
          <a:bodyPr wrap="square" lIns="0" tIns="0" rIns="0" bIns="0" rtlCol="0" anchor="ctr"/>
          <a:lstStyle/>
          <a:p>
            <a:pPr indent="0" marL="0">
              <a:buNone/>
            </a:pPr>
            <a:r>
              <a:rPr lang="en-US" sz="1250" dirty="0">
                <a:solidFill>
                  <a:srgbClr val="5B6472"/>
                </a:solidFill>
                <a:latin typeface="Calibri" pitchFamily="34" charset="0"/>
                <a:ea typeface="Calibri" pitchFamily="34" charset="-122"/>
                <a:cs typeface="Calibri" pitchFamily="34" charset="-120"/>
              </a:rPr>
              <a:t>Deferrable Operator, TaskFlow API, Idempotency และ Dynamic Alerting</a:t>
            </a:r>
            <a:endParaRPr lang="en-US" sz="1250" dirty="0"/>
          </a:p>
        </p:txBody>
      </p:sp>
      <p:sp>
        <p:nvSpPr>
          <p:cNvPr id="15" name="Shape 12"/>
          <p:cNvSpPr/>
          <p:nvPr/>
        </p:nvSpPr>
        <p:spPr>
          <a:xfrm>
            <a:off x="548640" y="4160520"/>
            <a:ext cx="11064240" cy="1051560"/>
          </a:xfrm>
          <a:prstGeom prst="roundRect">
            <a:avLst>
              <a:gd name="adj" fmla="val 6957"/>
            </a:avLst>
          </a:prstGeom>
          <a:solidFill>
            <a:srgbClr val="F3F5FB"/>
          </a:solidFill>
          <a:ln/>
        </p:spPr>
      </p:sp>
      <p:sp>
        <p:nvSpPr>
          <p:cNvPr id="16" name="Shape 13"/>
          <p:cNvSpPr/>
          <p:nvPr/>
        </p:nvSpPr>
        <p:spPr>
          <a:xfrm>
            <a:off x="868680" y="4416552"/>
            <a:ext cx="548640" cy="548640"/>
          </a:xfrm>
          <a:prstGeom prst="ellipse">
            <a:avLst/>
          </a:prstGeom>
          <a:solidFill>
            <a:srgbClr val="1E2761"/>
          </a:solidFill>
          <a:ln/>
        </p:spPr>
      </p:sp>
      <p:sp>
        <p:nvSpPr>
          <p:cNvPr id="17" name="Text 14"/>
          <p:cNvSpPr txBox="1"/>
          <p:nvPr/>
        </p:nvSpPr>
        <p:spPr>
          <a:xfrm>
            <a:off x="868680" y="4416552"/>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03</a:t>
            </a:r>
            <a:endParaRPr lang="en-US" sz="1600" dirty="0"/>
          </a:p>
        </p:txBody>
      </p:sp>
      <p:sp>
        <p:nvSpPr>
          <p:cNvPr id="18" name="Text 15"/>
          <p:cNvSpPr txBox="1"/>
          <p:nvPr/>
        </p:nvSpPr>
        <p:spPr>
          <a:xfrm>
            <a:off x="1691640" y="4288536"/>
            <a:ext cx="9601200" cy="384048"/>
          </a:xfrm>
          <a:prstGeom prst="rect">
            <a:avLst/>
          </a:prstGeom>
          <a:noFill/>
          <a:ln/>
        </p:spPr>
        <p:txBody>
          <a:bodyPr wrap="square" lIns="0" tIns="0" rIns="0" bIns="0"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Task 3 — Live Analytics Dashboard &amp; Secure Deployment</a:t>
            </a:r>
            <a:endParaRPr lang="en-US" sz="1600" dirty="0"/>
          </a:p>
        </p:txBody>
      </p:sp>
      <p:sp>
        <p:nvSpPr>
          <p:cNvPr id="19" name="Text 16"/>
          <p:cNvSpPr txBox="1"/>
          <p:nvPr/>
        </p:nvSpPr>
        <p:spPr>
          <a:xfrm>
            <a:off x="1691640" y="4672584"/>
            <a:ext cx="9601200" cy="384048"/>
          </a:xfrm>
          <a:prstGeom prst="rect">
            <a:avLst/>
          </a:prstGeom>
          <a:noFill/>
          <a:ln/>
        </p:spPr>
        <p:txBody>
          <a:bodyPr wrap="square" lIns="0" tIns="0" rIns="0" bIns="0" rtlCol="0" anchor="ctr"/>
          <a:lstStyle/>
          <a:p>
            <a:pPr indent="0" marL="0">
              <a:buNone/>
            </a:pPr>
            <a:r>
              <a:rPr lang="en-US" sz="1250" dirty="0">
                <a:solidFill>
                  <a:srgbClr val="5B6472"/>
                </a:solidFill>
                <a:latin typeface="Calibri" pitchFamily="34" charset="0"/>
                <a:ea typeface="Calibri" pitchFamily="34" charset="-122"/>
                <a:cs typeface="Calibri" pitchFamily="34" charset="-120"/>
              </a:rPr>
              <a:t>Streamlit Dashboard พร้อม Moving Average และ Anomaly Highlighting</a:t>
            </a:r>
            <a:endParaRPr lang="en-US" sz="1250" dirty="0"/>
          </a:p>
        </p:txBody>
      </p:sp>
      <p:sp>
        <p:nvSpPr>
          <p:cNvPr id="20" name="Shape 17"/>
          <p:cNvSpPr/>
          <p:nvPr/>
        </p:nvSpPr>
        <p:spPr>
          <a:xfrm>
            <a:off x="548640" y="5349240"/>
            <a:ext cx="11064240" cy="1051560"/>
          </a:xfrm>
          <a:prstGeom prst="roundRect">
            <a:avLst>
              <a:gd name="adj" fmla="val 6957"/>
            </a:avLst>
          </a:prstGeom>
          <a:solidFill>
            <a:srgbClr val="F3F5FB"/>
          </a:solidFill>
          <a:ln/>
        </p:spPr>
      </p:sp>
      <p:sp>
        <p:nvSpPr>
          <p:cNvPr id="21" name="Shape 18"/>
          <p:cNvSpPr/>
          <p:nvPr/>
        </p:nvSpPr>
        <p:spPr>
          <a:xfrm>
            <a:off x="868680" y="5605272"/>
            <a:ext cx="548640" cy="548640"/>
          </a:xfrm>
          <a:prstGeom prst="ellipse">
            <a:avLst/>
          </a:prstGeom>
          <a:solidFill>
            <a:srgbClr val="1E2761"/>
          </a:solidFill>
          <a:ln/>
        </p:spPr>
      </p:sp>
      <p:sp>
        <p:nvSpPr>
          <p:cNvPr id="22" name="Text 19"/>
          <p:cNvSpPr txBox="1"/>
          <p:nvPr/>
        </p:nvSpPr>
        <p:spPr>
          <a:xfrm>
            <a:off x="868680" y="5605272"/>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04</a:t>
            </a:r>
            <a:endParaRPr lang="en-US" sz="1600" dirty="0"/>
          </a:p>
        </p:txBody>
      </p:sp>
      <p:sp>
        <p:nvSpPr>
          <p:cNvPr id="23" name="Text 20"/>
          <p:cNvSpPr txBox="1"/>
          <p:nvPr/>
        </p:nvSpPr>
        <p:spPr>
          <a:xfrm>
            <a:off x="1691640" y="5477256"/>
            <a:ext cx="9601200" cy="384048"/>
          </a:xfrm>
          <a:prstGeom prst="rect">
            <a:avLst/>
          </a:prstGeom>
          <a:noFill/>
          <a:ln/>
        </p:spPr>
        <p:txBody>
          <a:bodyPr wrap="square" lIns="0" tIns="0" rIns="0" bIns="0"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Task 4 — Architectural Report &amp; Performance Analysis</a:t>
            </a:r>
            <a:endParaRPr lang="en-US" sz="1600" dirty="0"/>
          </a:p>
        </p:txBody>
      </p:sp>
      <p:sp>
        <p:nvSpPr>
          <p:cNvPr id="24" name="Text 21"/>
          <p:cNvSpPr txBox="1"/>
          <p:nvPr/>
        </p:nvSpPr>
        <p:spPr>
          <a:xfrm>
            <a:off x="1691640" y="5861304"/>
            <a:ext cx="9601200" cy="384048"/>
          </a:xfrm>
          <a:prstGeom prst="rect">
            <a:avLst/>
          </a:prstGeom>
          <a:noFill/>
          <a:ln/>
        </p:spPr>
        <p:txBody>
          <a:bodyPr wrap="square" lIns="0" tIns="0" rIns="0" bIns="0" rtlCol="0" anchor="ctr"/>
          <a:lstStyle/>
          <a:p>
            <a:pPr indent="0" marL="0">
              <a:buNone/>
            </a:pPr>
            <a:r>
              <a:rPr lang="en-US" sz="1250" dirty="0">
                <a:solidFill>
                  <a:srgbClr val="5B6472"/>
                </a:solidFill>
                <a:latin typeface="Calibri" pitchFamily="34" charset="0"/>
                <a:ea typeface="Calibri" pitchFamily="34" charset="-122"/>
                <a:cs typeface="Calibri" pitchFamily="34" charset="-120"/>
              </a:rPr>
              <a:t>Benchmark เชิงตัวเลข และข้อเสนอสถาปัตยกรรมสำหรับ 10,000 TPS</a:t>
            </a:r>
            <a:endParaRPr lang="en-US" sz="1250" dirty="0"/>
          </a:p>
        </p:txBody>
      </p:sp>
      <p:sp>
        <p:nvSpPr>
          <p:cNvPr id="25" name="Slide Number Placeholder 0"/>
          <p:cNvSpPr>
            <a:spLocks noGrp="1"/>
          </p:cNvSpPr>
          <p:nvPr>
            <p:ph type="sldNum" sz="quarter" idx="4294967295"/>
          </p:nvPr>
        </p:nvSpPr>
        <p:spPr>
          <a:xfrm>
            <a:off x="1156716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txBox="1"/>
          <p:nvPr/>
        </p:nvSpPr>
        <p:spPr>
          <a:xfrm>
            <a:off x="548640" y="365760"/>
            <a:ext cx="5486400" cy="320040"/>
          </a:xfrm>
          <a:prstGeom prst="rect">
            <a:avLst/>
          </a:prstGeom>
          <a:noFill/>
          <a:ln/>
        </p:spPr>
        <p:txBody>
          <a:bodyPr wrap="square" lIns="0" tIns="0" rIns="0" bIns="0"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SYSTEM OVERVIEW</a:t>
            </a:r>
            <a:endParaRPr lang="en-US" sz="1200" dirty="0"/>
          </a:p>
        </p:txBody>
      </p:sp>
      <p:sp>
        <p:nvSpPr>
          <p:cNvPr id="4" name="Text 1"/>
          <p:cNvSpPr txBox="1"/>
          <p:nvPr/>
        </p:nvSpPr>
        <p:spPr>
          <a:xfrm>
            <a:off x="548640" y="658368"/>
            <a:ext cx="110642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ภาพรวมสถาปัตยกรรมของระบบ (End-to-End)</a:t>
            </a:r>
            <a:endParaRPr lang="en-US" sz="3000" dirty="0"/>
          </a:p>
        </p:txBody>
      </p:sp>
      <p:sp>
        <p:nvSpPr>
          <p:cNvPr id="5" name="Shape 2"/>
          <p:cNvSpPr/>
          <p:nvPr/>
        </p:nvSpPr>
        <p:spPr>
          <a:xfrm>
            <a:off x="594360" y="2331720"/>
            <a:ext cx="1874520" cy="1371600"/>
          </a:xfrm>
          <a:prstGeom prst="roundRect">
            <a:avLst>
              <a:gd name="adj" fmla="val 5333"/>
            </a:avLst>
          </a:prstGeom>
          <a:solidFill>
            <a:srgbClr val="F3F5FB"/>
          </a:solidFill>
          <a:ln/>
        </p:spPr>
      </p:sp>
      <p:sp>
        <p:nvSpPr>
          <p:cNvPr id="6" name="Shape 3"/>
          <p:cNvSpPr/>
          <p:nvPr/>
        </p:nvSpPr>
        <p:spPr>
          <a:xfrm>
            <a:off x="1330452" y="2496312"/>
            <a:ext cx="402336" cy="402336"/>
          </a:xfrm>
          <a:prstGeom prst="ellipse">
            <a:avLst/>
          </a:prstGeom>
          <a:solidFill>
            <a:srgbClr val="1E2761"/>
          </a:solidFill>
          <a:ln/>
        </p:spPr>
      </p:sp>
      <p:sp>
        <p:nvSpPr>
          <p:cNvPr id="7" name="Text 4"/>
          <p:cNvSpPr txBox="1"/>
          <p:nvPr/>
        </p:nvSpPr>
        <p:spPr>
          <a:xfrm>
            <a:off x="1330452" y="24963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640080" y="2953512"/>
            <a:ext cx="1783080" cy="45720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Workload</a:t>
            </a:r>
            <a:endParaRPr lang="en-US" sz="1250" dirty="0"/>
          </a:p>
          <a:p>
            <a:pPr algn="ctr" indent="0" marL="0">
              <a:buNone/>
            </a:pPr>
            <a:r>
              <a:rPr lang="en-US" sz="1250" b="1" dirty="0">
                <a:solidFill>
                  <a:srgbClr val="1E2761"/>
                </a:solidFill>
                <a:latin typeface="Calibri" pitchFamily="34" charset="0"/>
                <a:ea typeface="Calibri" pitchFamily="34" charset="-122"/>
                <a:cs typeface="Calibri" pitchFamily="34" charset="-120"/>
              </a:rPr>
              <a:t>Generator</a:t>
            </a:r>
            <a:endParaRPr lang="en-US" sz="1250" dirty="0"/>
          </a:p>
        </p:txBody>
      </p:sp>
      <p:sp>
        <p:nvSpPr>
          <p:cNvPr id="9" name="Text 6"/>
          <p:cNvSpPr txBox="1"/>
          <p:nvPr/>
        </p:nvSpPr>
        <p:spPr>
          <a:xfrm>
            <a:off x="640080" y="3374136"/>
            <a:ext cx="1783080" cy="329184"/>
          </a:xfrm>
          <a:prstGeom prst="rect">
            <a:avLst/>
          </a:prstGeom>
          <a:noFill/>
          <a:ln/>
        </p:spPr>
        <p:txBody>
          <a:bodyPr wrap="square" lIns="0" tIns="0" rIns="0" bIns="0" rtlCol="0" anchor="ctr"/>
          <a:lstStyle/>
          <a:p>
            <a:pPr algn="ctr" indent="0" marL="0">
              <a:buNone/>
            </a:pPr>
            <a:r>
              <a:rPr lang="en-US" sz="950" dirty="0">
                <a:solidFill>
                  <a:srgbClr val="5B6472"/>
                </a:solidFill>
                <a:latin typeface="Calibri" pitchFamily="34" charset="0"/>
                <a:ea typeface="Calibri" pitchFamily="34" charset="-122"/>
                <a:cs typeface="Calibri" pitchFamily="34" charset="-120"/>
              </a:rPr>
              <a:t>Python script</a:t>
            </a:r>
            <a:endParaRPr lang="en-US" sz="950" dirty="0"/>
          </a:p>
        </p:txBody>
      </p:sp>
      <p:sp>
        <p:nvSpPr>
          <p:cNvPr id="10" name="Text 7"/>
          <p:cNvSpPr txBox="1"/>
          <p:nvPr/>
        </p:nvSpPr>
        <p:spPr>
          <a:xfrm>
            <a:off x="2468880" y="2331720"/>
            <a:ext cx="329184" cy="1371600"/>
          </a:xfrm>
          <a:prstGeom prst="rect">
            <a:avLst/>
          </a:prstGeom>
          <a:noFill/>
          <a:ln/>
        </p:spPr>
        <p:txBody>
          <a:bodyPr wrap="square" lIns="0" tIns="0" rIns="0" bIns="0" rtlCol="0" anchor="ctr"/>
          <a:lstStyle/>
          <a:p>
            <a:pPr algn="ctr" indent="0" marL="0">
              <a:buNone/>
            </a:pPr>
            <a:r>
              <a:rPr lang="en-US" sz="2200" b="1" dirty="0">
                <a:solidFill>
                  <a:srgbClr val="1E2761"/>
                </a:solidFill>
                <a:latin typeface="Calibri" pitchFamily="34" charset="0"/>
                <a:ea typeface="Calibri" pitchFamily="34" charset="-122"/>
                <a:cs typeface="Calibri" pitchFamily="34" charset="-120"/>
              </a:rPr>
              <a:t>→</a:t>
            </a:r>
            <a:endParaRPr lang="en-US" sz="2200" dirty="0"/>
          </a:p>
        </p:txBody>
      </p:sp>
      <p:sp>
        <p:nvSpPr>
          <p:cNvPr id="11" name="Shape 8"/>
          <p:cNvSpPr/>
          <p:nvPr/>
        </p:nvSpPr>
        <p:spPr>
          <a:xfrm>
            <a:off x="2798064" y="2331720"/>
            <a:ext cx="1874520" cy="1371600"/>
          </a:xfrm>
          <a:prstGeom prst="roundRect">
            <a:avLst>
              <a:gd name="adj" fmla="val 5333"/>
            </a:avLst>
          </a:prstGeom>
          <a:solidFill>
            <a:srgbClr val="F3F5FB"/>
          </a:solidFill>
          <a:ln/>
        </p:spPr>
      </p:sp>
      <p:sp>
        <p:nvSpPr>
          <p:cNvPr id="12" name="Shape 9"/>
          <p:cNvSpPr/>
          <p:nvPr/>
        </p:nvSpPr>
        <p:spPr>
          <a:xfrm>
            <a:off x="3534156" y="2496312"/>
            <a:ext cx="402336" cy="402336"/>
          </a:xfrm>
          <a:prstGeom prst="ellipse">
            <a:avLst/>
          </a:prstGeom>
          <a:solidFill>
            <a:srgbClr val="1E2761"/>
          </a:solidFill>
          <a:ln/>
        </p:spPr>
      </p:sp>
      <p:sp>
        <p:nvSpPr>
          <p:cNvPr id="13" name="Text 10"/>
          <p:cNvSpPr txBox="1"/>
          <p:nvPr/>
        </p:nvSpPr>
        <p:spPr>
          <a:xfrm>
            <a:off x="3534156" y="24963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txBox="1"/>
          <p:nvPr/>
        </p:nvSpPr>
        <p:spPr>
          <a:xfrm>
            <a:off x="2843784" y="2953512"/>
            <a:ext cx="1783080" cy="45720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Landing</a:t>
            </a:r>
            <a:endParaRPr lang="en-US" sz="1250" dirty="0"/>
          </a:p>
          <a:p>
            <a:pPr algn="ctr" indent="0" marL="0">
              <a:buNone/>
            </a:pPr>
            <a:r>
              <a:rPr lang="en-US" sz="1250" b="1" dirty="0">
                <a:solidFill>
                  <a:srgbClr val="1E2761"/>
                </a:solidFill>
                <a:latin typeface="Calibri" pitchFamily="34" charset="0"/>
                <a:ea typeface="Calibri" pitchFamily="34" charset="-122"/>
                <a:cs typeface="Calibri" pitchFamily="34" charset="-120"/>
              </a:rPr>
              <a:t>Directory</a:t>
            </a:r>
            <a:endParaRPr lang="en-US" sz="1250" dirty="0"/>
          </a:p>
        </p:txBody>
      </p:sp>
      <p:sp>
        <p:nvSpPr>
          <p:cNvPr id="15" name="Text 12"/>
          <p:cNvSpPr txBox="1"/>
          <p:nvPr/>
        </p:nvSpPr>
        <p:spPr>
          <a:xfrm>
            <a:off x="2843784" y="3374136"/>
            <a:ext cx="1783080" cy="329184"/>
          </a:xfrm>
          <a:prstGeom prst="rect">
            <a:avLst/>
          </a:prstGeom>
          <a:noFill/>
          <a:ln/>
        </p:spPr>
        <p:txBody>
          <a:bodyPr wrap="square" lIns="0" tIns="0" rIns="0" bIns="0" rtlCol="0" anchor="ctr"/>
          <a:lstStyle/>
          <a:p>
            <a:pPr algn="ctr" indent="0" marL="0">
              <a:buNone/>
            </a:pPr>
            <a:r>
              <a:rPr lang="en-US" sz="950" dirty="0">
                <a:solidFill>
                  <a:srgbClr val="5B6472"/>
                </a:solidFill>
                <a:latin typeface="Calibri" pitchFamily="34" charset="0"/>
                <a:ea typeface="Calibri" pitchFamily="34" charset="-122"/>
                <a:cs typeface="Calibri" pitchFamily="34" charset="-120"/>
              </a:rPr>
              <a:t>JSONL batch files</a:t>
            </a:r>
            <a:endParaRPr lang="en-US" sz="950" dirty="0"/>
          </a:p>
        </p:txBody>
      </p:sp>
      <p:sp>
        <p:nvSpPr>
          <p:cNvPr id="16" name="Text 13"/>
          <p:cNvSpPr txBox="1"/>
          <p:nvPr/>
        </p:nvSpPr>
        <p:spPr>
          <a:xfrm>
            <a:off x="4672584" y="2331720"/>
            <a:ext cx="329184" cy="1371600"/>
          </a:xfrm>
          <a:prstGeom prst="rect">
            <a:avLst/>
          </a:prstGeom>
          <a:noFill/>
          <a:ln/>
        </p:spPr>
        <p:txBody>
          <a:bodyPr wrap="square" lIns="0" tIns="0" rIns="0" bIns="0" rtlCol="0" anchor="ctr"/>
          <a:lstStyle/>
          <a:p>
            <a:pPr algn="ctr" indent="0" marL="0">
              <a:buNone/>
            </a:pPr>
            <a:r>
              <a:rPr lang="en-US" sz="2200" b="1" dirty="0">
                <a:solidFill>
                  <a:srgbClr val="1E2761"/>
                </a:solidFill>
                <a:latin typeface="Calibri" pitchFamily="34" charset="0"/>
                <a:ea typeface="Calibri" pitchFamily="34" charset="-122"/>
                <a:cs typeface="Calibri" pitchFamily="34" charset="-120"/>
              </a:rPr>
              <a:t>→</a:t>
            </a:r>
            <a:endParaRPr lang="en-US" sz="2200" dirty="0"/>
          </a:p>
        </p:txBody>
      </p:sp>
      <p:sp>
        <p:nvSpPr>
          <p:cNvPr id="17" name="Shape 14"/>
          <p:cNvSpPr/>
          <p:nvPr/>
        </p:nvSpPr>
        <p:spPr>
          <a:xfrm>
            <a:off x="5001768" y="2331720"/>
            <a:ext cx="1874520" cy="1371600"/>
          </a:xfrm>
          <a:prstGeom prst="roundRect">
            <a:avLst>
              <a:gd name="adj" fmla="val 5333"/>
            </a:avLst>
          </a:prstGeom>
          <a:solidFill>
            <a:srgbClr val="1E2761"/>
          </a:solidFill>
          <a:ln/>
        </p:spPr>
      </p:sp>
      <p:sp>
        <p:nvSpPr>
          <p:cNvPr id="18" name="Shape 15"/>
          <p:cNvSpPr/>
          <p:nvPr/>
        </p:nvSpPr>
        <p:spPr>
          <a:xfrm>
            <a:off x="5737860" y="2496312"/>
            <a:ext cx="402336" cy="402336"/>
          </a:xfrm>
          <a:prstGeom prst="ellipse">
            <a:avLst/>
          </a:prstGeom>
          <a:solidFill>
            <a:srgbClr val="CADCFC"/>
          </a:solidFill>
          <a:ln/>
        </p:spPr>
      </p:sp>
      <p:sp>
        <p:nvSpPr>
          <p:cNvPr id="19" name="Text 16"/>
          <p:cNvSpPr txBox="1"/>
          <p:nvPr/>
        </p:nvSpPr>
        <p:spPr>
          <a:xfrm>
            <a:off x="5737860" y="2496312"/>
            <a:ext cx="402336" cy="402336"/>
          </a:xfrm>
          <a:prstGeom prst="rect">
            <a:avLst/>
          </a:prstGeom>
          <a:noFill/>
          <a:ln/>
        </p:spPr>
        <p:txBody>
          <a:bodyPr wrap="square" lIns="0" tIns="0" rIns="0" bIns="0"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3</a:t>
            </a:r>
            <a:endParaRPr lang="en-US" sz="1400" dirty="0"/>
          </a:p>
        </p:txBody>
      </p:sp>
      <p:sp>
        <p:nvSpPr>
          <p:cNvPr id="20" name="Text 17"/>
          <p:cNvSpPr txBox="1"/>
          <p:nvPr/>
        </p:nvSpPr>
        <p:spPr>
          <a:xfrm>
            <a:off x="5047488" y="2953512"/>
            <a:ext cx="178308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Airflow DAG</a:t>
            </a:r>
            <a:endParaRPr lang="en-US" sz="1250" dirty="0"/>
          </a:p>
        </p:txBody>
      </p:sp>
      <p:sp>
        <p:nvSpPr>
          <p:cNvPr id="21" name="Text 18"/>
          <p:cNvSpPr txBox="1"/>
          <p:nvPr/>
        </p:nvSpPr>
        <p:spPr>
          <a:xfrm>
            <a:off x="5047488" y="3374136"/>
            <a:ext cx="1783080" cy="329184"/>
          </a:xfrm>
          <a:prstGeom prst="rect">
            <a:avLst/>
          </a:prstGeom>
          <a:noFill/>
          <a:ln/>
        </p:spPr>
        <p:txBody>
          <a:bodyPr wrap="square" lIns="0" tIns="0" rIns="0" bIns="0" rtlCol="0" anchor="ctr"/>
          <a:lstStyle/>
          <a:p>
            <a:pPr algn="ctr" indent="0" marL="0">
              <a:buNone/>
            </a:pPr>
            <a:r>
              <a:rPr lang="en-US" sz="950" dirty="0">
                <a:solidFill>
                  <a:srgbClr val="CADCFC"/>
                </a:solidFill>
                <a:latin typeface="Calibri" pitchFamily="34" charset="0"/>
                <a:ea typeface="Calibri" pitchFamily="34" charset="-122"/>
                <a:cs typeface="Calibri" pitchFamily="34" charset="-120"/>
              </a:rPr>
              <a:t>Deferrable Sensor</a:t>
            </a:r>
            <a:endParaRPr lang="en-US" sz="950" dirty="0"/>
          </a:p>
          <a:p>
            <a:pPr algn="ctr" indent="0" marL="0">
              <a:buNone/>
            </a:pPr>
            <a:r>
              <a:rPr lang="en-US" sz="950" dirty="0">
                <a:solidFill>
                  <a:srgbClr val="CADCFC"/>
                </a:solidFill>
                <a:latin typeface="Calibri" pitchFamily="34" charset="0"/>
                <a:ea typeface="Calibri" pitchFamily="34" charset="-122"/>
                <a:cs typeface="Calibri" pitchFamily="34" charset="-120"/>
              </a:rPr>
              <a:t>+ TaskFlow API</a:t>
            </a:r>
            <a:endParaRPr lang="en-US" sz="950" dirty="0"/>
          </a:p>
        </p:txBody>
      </p:sp>
      <p:sp>
        <p:nvSpPr>
          <p:cNvPr id="22" name="Text 19"/>
          <p:cNvSpPr txBox="1"/>
          <p:nvPr/>
        </p:nvSpPr>
        <p:spPr>
          <a:xfrm>
            <a:off x="6876288" y="2331720"/>
            <a:ext cx="329184" cy="1371600"/>
          </a:xfrm>
          <a:prstGeom prst="rect">
            <a:avLst/>
          </a:prstGeom>
          <a:noFill/>
          <a:ln/>
        </p:spPr>
        <p:txBody>
          <a:bodyPr wrap="square" lIns="0" tIns="0" rIns="0" bIns="0" rtlCol="0" anchor="ctr"/>
          <a:lstStyle/>
          <a:p>
            <a:pPr algn="ctr" indent="0" marL="0">
              <a:buNone/>
            </a:pPr>
            <a:r>
              <a:rPr lang="en-US" sz="2200" b="1" dirty="0">
                <a:solidFill>
                  <a:srgbClr val="1E2761"/>
                </a:solidFill>
                <a:latin typeface="Calibri" pitchFamily="34" charset="0"/>
                <a:ea typeface="Calibri" pitchFamily="34" charset="-122"/>
                <a:cs typeface="Calibri" pitchFamily="34" charset="-120"/>
              </a:rPr>
              <a:t>→</a:t>
            </a:r>
            <a:endParaRPr lang="en-US" sz="2200" dirty="0"/>
          </a:p>
        </p:txBody>
      </p:sp>
      <p:sp>
        <p:nvSpPr>
          <p:cNvPr id="23" name="Shape 20"/>
          <p:cNvSpPr/>
          <p:nvPr/>
        </p:nvSpPr>
        <p:spPr>
          <a:xfrm>
            <a:off x="7205472" y="2331720"/>
            <a:ext cx="1874520" cy="1371600"/>
          </a:xfrm>
          <a:prstGeom prst="roundRect">
            <a:avLst>
              <a:gd name="adj" fmla="val 5333"/>
            </a:avLst>
          </a:prstGeom>
          <a:solidFill>
            <a:srgbClr val="F3F5FB"/>
          </a:solidFill>
          <a:ln/>
        </p:spPr>
      </p:sp>
      <p:sp>
        <p:nvSpPr>
          <p:cNvPr id="24" name="Shape 21"/>
          <p:cNvSpPr/>
          <p:nvPr/>
        </p:nvSpPr>
        <p:spPr>
          <a:xfrm>
            <a:off x="7941564" y="2496312"/>
            <a:ext cx="402336" cy="402336"/>
          </a:xfrm>
          <a:prstGeom prst="ellipse">
            <a:avLst/>
          </a:prstGeom>
          <a:solidFill>
            <a:srgbClr val="1E2761"/>
          </a:solidFill>
          <a:ln/>
        </p:spPr>
      </p:sp>
      <p:sp>
        <p:nvSpPr>
          <p:cNvPr id="25" name="Text 22"/>
          <p:cNvSpPr txBox="1"/>
          <p:nvPr/>
        </p:nvSpPr>
        <p:spPr>
          <a:xfrm>
            <a:off x="7941564" y="24963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6" name="Text 23"/>
          <p:cNvSpPr txBox="1"/>
          <p:nvPr/>
        </p:nvSpPr>
        <p:spPr>
          <a:xfrm>
            <a:off x="7251192" y="2953512"/>
            <a:ext cx="1783080" cy="45720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PostgreSQL</a:t>
            </a:r>
            <a:endParaRPr lang="en-US" sz="1250" dirty="0"/>
          </a:p>
        </p:txBody>
      </p:sp>
      <p:sp>
        <p:nvSpPr>
          <p:cNvPr id="27" name="Text 24"/>
          <p:cNvSpPr txBox="1"/>
          <p:nvPr/>
        </p:nvSpPr>
        <p:spPr>
          <a:xfrm>
            <a:off x="7251192" y="3374136"/>
            <a:ext cx="1783080" cy="329184"/>
          </a:xfrm>
          <a:prstGeom prst="rect">
            <a:avLst/>
          </a:prstGeom>
          <a:noFill/>
          <a:ln/>
        </p:spPr>
        <p:txBody>
          <a:bodyPr wrap="square" lIns="0" tIns="0" rIns="0" bIns="0" rtlCol="0" anchor="ctr"/>
          <a:lstStyle/>
          <a:p>
            <a:pPr algn="ctr" indent="0" marL="0">
              <a:buNone/>
            </a:pPr>
            <a:r>
              <a:rPr lang="en-US" sz="950" dirty="0">
                <a:solidFill>
                  <a:srgbClr val="5B6472"/>
                </a:solidFill>
                <a:latin typeface="Calibri" pitchFamily="34" charset="0"/>
                <a:ea typeface="Calibri" pitchFamily="34" charset="-122"/>
                <a:cs typeface="Calibri" pitchFamily="34" charset="-120"/>
              </a:rPr>
              <a:t>pos_transactions</a:t>
            </a:r>
            <a:endParaRPr lang="en-US" sz="950" dirty="0"/>
          </a:p>
          <a:p>
            <a:pPr algn="ctr" indent="0" marL="0">
              <a:buNone/>
            </a:pPr>
            <a:r>
              <a:rPr lang="en-US" sz="950" dirty="0">
                <a:solidFill>
                  <a:srgbClr val="5B6472"/>
                </a:solidFill>
                <a:latin typeface="Calibri" pitchFamily="34" charset="0"/>
                <a:ea typeface="Calibri" pitchFamily="34" charset="-122"/>
                <a:cs typeface="Calibri" pitchFamily="34" charset="-120"/>
              </a:rPr>
              <a:t>(idempotent upsert)</a:t>
            </a:r>
            <a:endParaRPr lang="en-US" sz="950" dirty="0"/>
          </a:p>
        </p:txBody>
      </p:sp>
      <p:sp>
        <p:nvSpPr>
          <p:cNvPr id="28" name="Text 25"/>
          <p:cNvSpPr txBox="1"/>
          <p:nvPr/>
        </p:nvSpPr>
        <p:spPr>
          <a:xfrm>
            <a:off x="9079992" y="2331720"/>
            <a:ext cx="329184" cy="1371600"/>
          </a:xfrm>
          <a:prstGeom prst="rect">
            <a:avLst/>
          </a:prstGeom>
          <a:noFill/>
          <a:ln/>
        </p:spPr>
        <p:txBody>
          <a:bodyPr wrap="square" lIns="0" tIns="0" rIns="0" bIns="0" rtlCol="0" anchor="ctr"/>
          <a:lstStyle/>
          <a:p>
            <a:pPr algn="ctr" indent="0" marL="0">
              <a:buNone/>
            </a:pPr>
            <a:r>
              <a:rPr lang="en-US" sz="2200" b="1" dirty="0">
                <a:solidFill>
                  <a:srgbClr val="1E2761"/>
                </a:solidFill>
                <a:latin typeface="Calibri" pitchFamily="34" charset="0"/>
                <a:ea typeface="Calibri" pitchFamily="34" charset="-122"/>
                <a:cs typeface="Calibri" pitchFamily="34" charset="-120"/>
              </a:rPr>
              <a:t>→</a:t>
            </a:r>
            <a:endParaRPr lang="en-US" sz="2200" dirty="0"/>
          </a:p>
        </p:txBody>
      </p:sp>
      <p:sp>
        <p:nvSpPr>
          <p:cNvPr id="29" name="Shape 26"/>
          <p:cNvSpPr/>
          <p:nvPr/>
        </p:nvSpPr>
        <p:spPr>
          <a:xfrm>
            <a:off x="9409176" y="2331720"/>
            <a:ext cx="1874520" cy="1371600"/>
          </a:xfrm>
          <a:prstGeom prst="roundRect">
            <a:avLst>
              <a:gd name="adj" fmla="val 5333"/>
            </a:avLst>
          </a:prstGeom>
          <a:solidFill>
            <a:srgbClr val="F3F5FB"/>
          </a:solidFill>
          <a:ln/>
        </p:spPr>
      </p:sp>
      <p:sp>
        <p:nvSpPr>
          <p:cNvPr id="30" name="Shape 27"/>
          <p:cNvSpPr/>
          <p:nvPr/>
        </p:nvSpPr>
        <p:spPr>
          <a:xfrm>
            <a:off x="10145268" y="2496312"/>
            <a:ext cx="402336" cy="402336"/>
          </a:xfrm>
          <a:prstGeom prst="ellipse">
            <a:avLst/>
          </a:prstGeom>
          <a:solidFill>
            <a:srgbClr val="1E2761"/>
          </a:solidFill>
          <a:ln/>
        </p:spPr>
      </p:sp>
      <p:sp>
        <p:nvSpPr>
          <p:cNvPr id="31" name="Text 28"/>
          <p:cNvSpPr txBox="1"/>
          <p:nvPr/>
        </p:nvSpPr>
        <p:spPr>
          <a:xfrm>
            <a:off x="10145268" y="24963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2" name="Text 29"/>
          <p:cNvSpPr txBox="1"/>
          <p:nvPr/>
        </p:nvSpPr>
        <p:spPr>
          <a:xfrm>
            <a:off x="9454896" y="2953512"/>
            <a:ext cx="1783080" cy="45720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Streamlit</a:t>
            </a:r>
            <a:endParaRPr lang="en-US" sz="1250" dirty="0"/>
          </a:p>
          <a:p>
            <a:pPr algn="ctr" indent="0" marL="0">
              <a:buNone/>
            </a:pPr>
            <a:r>
              <a:rPr lang="en-US" sz="1250" b="1" dirty="0">
                <a:solidFill>
                  <a:srgbClr val="1E2761"/>
                </a:solidFill>
                <a:latin typeface="Calibri" pitchFamily="34" charset="0"/>
                <a:ea typeface="Calibri" pitchFamily="34" charset="-122"/>
                <a:cs typeface="Calibri" pitchFamily="34" charset="-120"/>
              </a:rPr>
              <a:t>Dashboard</a:t>
            </a:r>
            <a:endParaRPr lang="en-US" sz="1250" dirty="0"/>
          </a:p>
        </p:txBody>
      </p:sp>
      <p:sp>
        <p:nvSpPr>
          <p:cNvPr id="33" name="Text 30"/>
          <p:cNvSpPr txBox="1"/>
          <p:nvPr/>
        </p:nvSpPr>
        <p:spPr>
          <a:xfrm>
            <a:off x="9454896" y="3374136"/>
            <a:ext cx="1783080" cy="329184"/>
          </a:xfrm>
          <a:prstGeom prst="rect">
            <a:avLst/>
          </a:prstGeom>
          <a:noFill/>
          <a:ln/>
        </p:spPr>
        <p:txBody>
          <a:bodyPr wrap="square" lIns="0" tIns="0" rIns="0" bIns="0" rtlCol="0" anchor="ctr"/>
          <a:lstStyle/>
          <a:p>
            <a:pPr algn="ctr" indent="0" marL="0">
              <a:buNone/>
            </a:pPr>
            <a:r>
              <a:rPr lang="en-US" sz="950" dirty="0">
                <a:solidFill>
                  <a:srgbClr val="5B6472"/>
                </a:solidFill>
                <a:latin typeface="Calibri" pitchFamily="34" charset="0"/>
                <a:ea typeface="Calibri" pitchFamily="34" charset="-122"/>
                <a:cs typeface="Calibri" pitchFamily="34" charset="-120"/>
              </a:rPr>
              <a:t>Moving avg +</a:t>
            </a:r>
            <a:endParaRPr lang="en-US" sz="950" dirty="0"/>
          </a:p>
          <a:p>
            <a:pPr algn="ctr" indent="0" marL="0">
              <a:buNone/>
            </a:pPr>
            <a:r>
              <a:rPr lang="en-US" sz="950" dirty="0">
                <a:solidFill>
                  <a:srgbClr val="5B6472"/>
                </a:solidFill>
                <a:latin typeface="Calibri" pitchFamily="34" charset="0"/>
                <a:ea typeface="Calibri" pitchFamily="34" charset="-122"/>
                <a:cs typeface="Calibri" pitchFamily="34" charset="-120"/>
              </a:rPr>
              <a:t>anomaly highlight</a:t>
            </a:r>
            <a:endParaRPr lang="en-US" sz="950" dirty="0"/>
          </a:p>
        </p:txBody>
      </p:sp>
      <p:sp>
        <p:nvSpPr>
          <p:cNvPr id="34" name="Shape 31"/>
          <p:cNvSpPr/>
          <p:nvPr/>
        </p:nvSpPr>
        <p:spPr>
          <a:xfrm>
            <a:off x="4434840" y="4160520"/>
            <a:ext cx="3337560" cy="868680"/>
          </a:xfrm>
          <a:prstGeom prst="roundRect">
            <a:avLst>
              <a:gd name="adj" fmla="val 8421"/>
            </a:avLst>
          </a:prstGeom>
          <a:solidFill>
            <a:srgbClr val="FBEAEA"/>
          </a:solidFill>
          <a:ln/>
        </p:spPr>
      </p:sp>
      <p:sp>
        <p:nvSpPr>
          <p:cNvPr id="35" name="Text 32"/>
          <p:cNvSpPr txBox="1"/>
          <p:nvPr/>
        </p:nvSpPr>
        <p:spPr>
          <a:xfrm>
            <a:off x="4434840" y="3794760"/>
            <a:ext cx="3337560" cy="365760"/>
          </a:xfrm>
          <a:prstGeom prst="rect">
            <a:avLst/>
          </a:prstGeom>
          <a:noFill/>
          <a:ln/>
        </p:spPr>
        <p:txBody>
          <a:bodyPr wrap="square" lIns="0" tIns="0" rIns="0" bIns="0" rtlCol="0" anchor="ctr"/>
          <a:lstStyle/>
          <a:p>
            <a:pPr algn="ctr" indent="0" marL="0">
              <a:buNone/>
            </a:pPr>
            <a:r>
              <a:rPr lang="en-US" sz="1600" b="1" dirty="0">
                <a:solidFill>
                  <a:srgbClr val="B3261E"/>
                </a:solidFill>
                <a:latin typeface="Calibri" pitchFamily="34" charset="0"/>
                <a:ea typeface="Calibri" pitchFamily="34" charset="-122"/>
                <a:cs typeface="Calibri" pitchFamily="34" charset="-120"/>
              </a:rPr>
              <a:t>↑</a:t>
            </a:r>
            <a:endParaRPr lang="en-US" sz="1600" dirty="0"/>
          </a:p>
        </p:txBody>
      </p:sp>
      <p:sp>
        <p:nvSpPr>
          <p:cNvPr id="36" name="Text 33"/>
          <p:cNvSpPr txBox="1"/>
          <p:nvPr/>
        </p:nvSpPr>
        <p:spPr>
          <a:xfrm>
            <a:off x="4572000" y="4297680"/>
            <a:ext cx="3063240" cy="594360"/>
          </a:xfrm>
          <a:prstGeom prst="rect">
            <a:avLst/>
          </a:prstGeom>
          <a:noFill/>
          <a:ln/>
        </p:spPr>
        <p:txBody>
          <a:bodyPr wrap="square" lIns="0" tIns="0" rIns="0" bIns="0" rtlCol="0" anchor="ctr"/>
          <a:lstStyle/>
          <a:p>
            <a:pPr algn="ctr" indent="0" marL="0">
              <a:buNone/>
            </a:pPr>
            <a:r>
              <a:rPr lang="en-US" sz="1200" b="1" dirty="0">
                <a:solidFill>
                  <a:srgbClr val="B3261E"/>
                </a:solidFill>
                <a:latin typeface="Calibri" pitchFamily="34" charset="0"/>
                <a:ea typeface="Calibri" pitchFamily="34" charset="-122"/>
                <a:cs typeface="Calibri" pitchFamily="34" charset="-120"/>
              </a:rPr>
              <a:t>Anomaly Alert → Telegram / Slack Webhook</a:t>
            </a:r>
            <a:endParaRPr lang="en-US" sz="1200" dirty="0"/>
          </a:p>
        </p:txBody>
      </p:sp>
      <p:sp>
        <p:nvSpPr>
          <p:cNvPr id="37" name="Text 34"/>
          <p:cNvSpPr txBox="1"/>
          <p:nvPr/>
        </p:nvSpPr>
        <p:spPr>
          <a:xfrm>
            <a:off x="594360" y="5394960"/>
            <a:ext cx="11064240" cy="457200"/>
          </a:xfrm>
          <a:prstGeom prst="rect">
            <a:avLst/>
          </a:prstGeom>
          <a:noFill/>
          <a:ln/>
        </p:spPr>
        <p:txBody>
          <a:bodyPr wrap="square" lIns="0" tIns="0" rIns="0" bIns="0" rtlCol="0" anchor="ctr"/>
          <a:lstStyle/>
          <a:p>
            <a:pPr indent="0" marL="0">
              <a:buNone/>
            </a:pPr>
            <a:r>
              <a:rPr lang="en-US" sz="1300" i="1" dirty="0">
                <a:solidFill>
                  <a:srgbClr val="5B6472"/>
                </a:solidFill>
                <a:latin typeface="Calibri" pitchFamily="34" charset="0"/>
                <a:ea typeface="Calibri" pitchFamily="34" charset="-122"/>
                <a:cs typeface="Calibri" pitchFamily="34" charset="-120"/>
              </a:rPr>
              <a:t>ทุกขั้นตอนออกแบบให้ Idempotent — รัน DAG ซ้ำกี่ครั้ง ข้อมูลใน PostgreSQL จะไม่ซ้ำซ้อน (ยืนยันด้วยการทดสอบจริง)</a:t>
            </a:r>
            <a:endParaRPr lang="en-US" sz="1300" dirty="0"/>
          </a:p>
        </p:txBody>
      </p:sp>
      <p:sp>
        <p:nvSpPr>
          <p:cNvPr id="25" name="Slide Number Placeholder 0"/>
          <p:cNvSpPr>
            <a:spLocks noGrp="1"/>
          </p:cNvSpPr>
          <p:nvPr>
            <p:ph type="sldNum" sz="quarter" idx="4294967295"/>
          </p:nvPr>
        </p:nvSpPr>
        <p:spPr>
          <a:xfrm>
            <a:off x="1156716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txBox="1"/>
          <p:nvPr/>
        </p:nvSpPr>
        <p:spPr>
          <a:xfrm>
            <a:off x="548640" y="365760"/>
            <a:ext cx="5486400" cy="320040"/>
          </a:xfrm>
          <a:prstGeom prst="rect">
            <a:avLst/>
          </a:prstGeom>
          <a:noFill/>
          <a:ln/>
        </p:spPr>
        <p:txBody>
          <a:bodyPr wrap="square" lIns="0" tIns="0" rIns="0" bIns="0"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TASK 1</a:t>
            </a:r>
            <a:endParaRPr lang="en-US" sz="1200" dirty="0"/>
          </a:p>
        </p:txBody>
      </p:sp>
      <p:sp>
        <p:nvSpPr>
          <p:cNvPr id="4" name="Text 1"/>
          <p:cNvSpPr txBox="1"/>
          <p:nvPr/>
        </p:nvSpPr>
        <p:spPr>
          <a:xfrm>
            <a:off x="548640" y="658368"/>
            <a:ext cx="110642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Advanced Workload &amp; Edge Case Generation</a:t>
            </a:r>
            <a:endParaRPr lang="en-US" sz="3000" dirty="0"/>
          </a:p>
        </p:txBody>
      </p:sp>
      <p:sp>
        <p:nvSpPr>
          <p:cNvPr id="5" name="Text 2"/>
          <p:cNvSpPr txBox="1"/>
          <p:nvPr/>
        </p:nvSpPr>
        <p:spPr>
          <a:xfrm>
            <a:off x="548640" y="1417320"/>
            <a:ext cx="11064240" cy="457200"/>
          </a:xfrm>
          <a:prstGeom prst="rect">
            <a:avLst/>
          </a:prstGeom>
          <a:noFill/>
          <a:ln/>
        </p:spPr>
        <p:txBody>
          <a:bodyPr wrap="square" lIns="0" tIns="0" rIns="0" bIns="0" rtlCol="0" anchor="ctr"/>
          <a:lstStyle/>
          <a:p>
            <a:pPr indent="0" marL="0">
              <a:buNone/>
            </a:pPr>
            <a:r>
              <a:rPr lang="en-US" sz="1400" dirty="0">
                <a:solidFill>
                  <a:srgbClr val="5B6472"/>
                </a:solidFill>
                <a:latin typeface="Calibri" pitchFamily="34" charset="0"/>
                <a:ea typeface="Calibri" pitchFamily="34" charset="-122"/>
                <a:cs typeface="Calibri" pitchFamily="34" charset="-120"/>
              </a:rPr>
              <a:t>จำลองสถานการณ์จริงของระบบ POS ด้วย Python script (scripts/workload_generator.py) เพิ่มเติมจากยอดขายปกติ</a:t>
            </a:r>
            <a:endParaRPr lang="en-US" sz="1400" dirty="0"/>
          </a:p>
        </p:txBody>
      </p:sp>
      <p:sp>
        <p:nvSpPr>
          <p:cNvPr id="6" name="Shape 3"/>
          <p:cNvSpPr/>
          <p:nvPr/>
        </p:nvSpPr>
        <p:spPr>
          <a:xfrm>
            <a:off x="548640" y="2148840"/>
            <a:ext cx="2697480" cy="2834640"/>
          </a:xfrm>
          <a:prstGeom prst="roundRect">
            <a:avLst>
              <a:gd name="adj" fmla="val 2712"/>
            </a:avLst>
          </a:prstGeom>
          <a:solidFill>
            <a:srgbClr val="F3F5FB"/>
          </a:solidFill>
          <a:ln/>
        </p:spPr>
      </p:sp>
      <p:sp>
        <p:nvSpPr>
          <p:cNvPr id="7" name="Shape 4"/>
          <p:cNvSpPr/>
          <p:nvPr/>
        </p:nvSpPr>
        <p:spPr>
          <a:xfrm>
            <a:off x="1531620" y="2423160"/>
            <a:ext cx="731520" cy="731520"/>
          </a:xfrm>
          <a:prstGeom prst="ellipse">
            <a:avLst/>
          </a:prstGeom>
          <a:solidFill>
            <a:srgbClr val="B3261E"/>
          </a:solidFill>
          <a:ln/>
        </p:spPr>
      </p:sp>
      <p:sp>
        <p:nvSpPr>
          <p:cNvPr id="8" name="Text 5"/>
          <p:cNvSpPr txBox="1"/>
          <p:nvPr/>
        </p:nvSpPr>
        <p:spPr>
          <a:xfrm>
            <a:off x="1531620" y="2423160"/>
            <a:ext cx="73152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a:t>
            </a:r>
            <a:endParaRPr lang="en-US" sz="2600" dirty="0"/>
          </a:p>
        </p:txBody>
      </p:sp>
      <p:sp>
        <p:nvSpPr>
          <p:cNvPr id="9" name="Text 6"/>
          <p:cNvSpPr txBox="1"/>
          <p:nvPr/>
        </p:nvSpPr>
        <p:spPr>
          <a:xfrm>
            <a:off x="685800" y="3337560"/>
            <a:ext cx="2423160" cy="685800"/>
          </a:xfrm>
          <a:prstGeom prst="rect">
            <a:avLst/>
          </a:prstGeom>
          <a:noFill/>
          <a:ln/>
        </p:spPr>
        <p:txBody>
          <a:bodyPr wrap="square" lIns="0" tIns="0" rIns="0" bIns="0"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Flash Sale</a:t>
            </a:r>
            <a:endParaRPr lang="en-US" sz="1400" dirty="0"/>
          </a:p>
        </p:txBody>
      </p:sp>
      <p:sp>
        <p:nvSpPr>
          <p:cNvPr id="10" name="Text 7"/>
          <p:cNvSpPr txBox="1"/>
          <p:nvPr/>
        </p:nvSpPr>
        <p:spPr>
          <a:xfrm>
            <a:off x="731520" y="3977640"/>
            <a:ext cx="2331720" cy="91440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ยอดขายพุ่งสูงขึ้น 10 เท่าชั่วขณะ (configurable burst window)</a:t>
            </a:r>
            <a:endParaRPr lang="en-US" sz="1100" dirty="0"/>
          </a:p>
        </p:txBody>
      </p:sp>
      <p:sp>
        <p:nvSpPr>
          <p:cNvPr id="11" name="Shape 8"/>
          <p:cNvSpPr/>
          <p:nvPr/>
        </p:nvSpPr>
        <p:spPr>
          <a:xfrm>
            <a:off x="3429000" y="2148840"/>
            <a:ext cx="2697480" cy="2834640"/>
          </a:xfrm>
          <a:prstGeom prst="roundRect">
            <a:avLst>
              <a:gd name="adj" fmla="val 2712"/>
            </a:avLst>
          </a:prstGeom>
          <a:solidFill>
            <a:srgbClr val="F3F5FB"/>
          </a:solidFill>
          <a:ln/>
        </p:spPr>
      </p:sp>
      <p:sp>
        <p:nvSpPr>
          <p:cNvPr id="12" name="Shape 9"/>
          <p:cNvSpPr/>
          <p:nvPr/>
        </p:nvSpPr>
        <p:spPr>
          <a:xfrm>
            <a:off x="4411980" y="2423160"/>
            <a:ext cx="731520" cy="731520"/>
          </a:xfrm>
          <a:prstGeom prst="ellipse">
            <a:avLst/>
          </a:prstGeom>
          <a:solidFill>
            <a:srgbClr val="1E2761"/>
          </a:solidFill>
          <a:ln/>
        </p:spPr>
      </p:sp>
      <p:sp>
        <p:nvSpPr>
          <p:cNvPr id="13" name="Text 10"/>
          <p:cNvSpPr txBox="1"/>
          <p:nvPr/>
        </p:nvSpPr>
        <p:spPr>
          <a:xfrm>
            <a:off x="4411980" y="2423160"/>
            <a:ext cx="73152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a:t>
            </a:r>
            <a:endParaRPr lang="en-US" sz="2600" dirty="0"/>
          </a:p>
        </p:txBody>
      </p:sp>
      <p:sp>
        <p:nvSpPr>
          <p:cNvPr id="14" name="Text 11"/>
          <p:cNvSpPr txBox="1"/>
          <p:nvPr/>
        </p:nvSpPr>
        <p:spPr>
          <a:xfrm>
            <a:off x="3566160" y="3337560"/>
            <a:ext cx="2423160" cy="685800"/>
          </a:xfrm>
          <a:prstGeom prst="rect">
            <a:avLst/>
          </a:prstGeom>
          <a:noFill/>
          <a:ln/>
        </p:spPr>
        <p:txBody>
          <a:bodyPr wrap="square" lIns="0" tIns="0" rIns="0" bIns="0"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Late-Arriving Data</a:t>
            </a:r>
            <a:endParaRPr lang="en-US" sz="1400" dirty="0"/>
          </a:p>
        </p:txBody>
      </p:sp>
      <p:sp>
        <p:nvSpPr>
          <p:cNvPr id="15" name="Text 12"/>
          <p:cNvSpPr txBox="1"/>
          <p:nvPr/>
        </p:nvSpPr>
        <p:spPr>
          <a:xfrm>
            <a:off x="3611880" y="3977640"/>
            <a:ext cx="2331720" cy="91440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event_time ล่าช้ากว่าเวลาจริง จำลอง Network/Device Latency</a:t>
            </a:r>
            <a:endParaRPr lang="en-US" sz="1100" dirty="0"/>
          </a:p>
        </p:txBody>
      </p:sp>
      <p:sp>
        <p:nvSpPr>
          <p:cNvPr id="16" name="Shape 13"/>
          <p:cNvSpPr/>
          <p:nvPr/>
        </p:nvSpPr>
        <p:spPr>
          <a:xfrm>
            <a:off x="6309360" y="2148840"/>
            <a:ext cx="2697480" cy="2834640"/>
          </a:xfrm>
          <a:prstGeom prst="roundRect">
            <a:avLst>
              <a:gd name="adj" fmla="val 2712"/>
            </a:avLst>
          </a:prstGeom>
          <a:solidFill>
            <a:srgbClr val="F3F5FB"/>
          </a:solidFill>
          <a:ln/>
        </p:spPr>
      </p:sp>
      <p:sp>
        <p:nvSpPr>
          <p:cNvPr id="17" name="Shape 14"/>
          <p:cNvSpPr/>
          <p:nvPr/>
        </p:nvSpPr>
        <p:spPr>
          <a:xfrm>
            <a:off x="7292340" y="2423160"/>
            <a:ext cx="731520" cy="731520"/>
          </a:xfrm>
          <a:prstGeom prst="ellipse">
            <a:avLst/>
          </a:prstGeom>
          <a:solidFill>
            <a:srgbClr val="1E2761"/>
          </a:solidFill>
          <a:ln/>
        </p:spPr>
      </p:sp>
      <p:sp>
        <p:nvSpPr>
          <p:cNvPr id="18" name="Text 15"/>
          <p:cNvSpPr txBox="1"/>
          <p:nvPr/>
        </p:nvSpPr>
        <p:spPr>
          <a:xfrm>
            <a:off x="7292340" y="2423160"/>
            <a:ext cx="731520" cy="7315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ID</a:t>
            </a:r>
            <a:endParaRPr lang="en-US" sz="1800" dirty="0"/>
          </a:p>
        </p:txBody>
      </p:sp>
      <p:sp>
        <p:nvSpPr>
          <p:cNvPr id="19" name="Text 16"/>
          <p:cNvSpPr txBox="1"/>
          <p:nvPr/>
        </p:nvSpPr>
        <p:spPr>
          <a:xfrm>
            <a:off x="6446520" y="3337560"/>
            <a:ext cx="2423160" cy="685800"/>
          </a:xfrm>
          <a:prstGeom prst="rect">
            <a:avLst/>
          </a:prstGeom>
          <a:noFill/>
          <a:ln/>
        </p:spPr>
        <p:txBody>
          <a:bodyPr wrap="square" lIns="0" tIns="0" rIns="0" bIns="0"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Duplicate Transaction ID</a:t>
            </a:r>
            <a:endParaRPr lang="en-US" sz="1400" dirty="0"/>
          </a:p>
        </p:txBody>
      </p:sp>
      <p:sp>
        <p:nvSpPr>
          <p:cNvPr id="20" name="Text 17"/>
          <p:cNvSpPr txBox="1"/>
          <p:nvPr/>
        </p:nvSpPr>
        <p:spPr>
          <a:xfrm>
            <a:off x="6492240" y="3977640"/>
            <a:ext cx="2331720" cy="91440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ยิง transaction_id ซ้ำจากรายการก่อนหน้าโดยตั้งใจ</a:t>
            </a:r>
            <a:endParaRPr lang="en-US" sz="1100" dirty="0"/>
          </a:p>
        </p:txBody>
      </p:sp>
      <p:sp>
        <p:nvSpPr>
          <p:cNvPr id="21" name="Shape 18"/>
          <p:cNvSpPr/>
          <p:nvPr/>
        </p:nvSpPr>
        <p:spPr>
          <a:xfrm>
            <a:off x="9189720" y="2148840"/>
            <a:ext cx="2697480" cy="2834640"/>
          </a:xfrm>
          <a:prstGeom prst="roundRect">
            <a:avLst>
              <a:gd name="adj" fmla="val 2712"/>
            </a:avLst>
          </a:prstGeom>
          <a:solidFill>
            <a:srgbClr val="F3F5FB"/>
          </a:solidFill>
          <a:ln/>
        </p:spPr>
      </p:sp>
      <p:sp>
        <p:nvSpPr>
          <p:cNvPr id="22" name="Shape 19"/>
          <p:cNvSpPr/>
          <p:nvPr/>
        </p:nvSpPr>
        <p:spPr>
          <a:xfrm>
            <a:off x="10172700" y="2423160"/>
            <a:ext cx="731520" cy="731520"/>
          </a:xfrm>
          <a:prstGeom prst="ellipse">
            <a:avLst/>
          </a:prstGeom>
          <a:solidFill>
            <a:srgbClr val="B3261E"/>
          </a:solidFill>
          <a:ln/>
        </p:spPr>
      </p:sp>
      <p:sp>
        <p:nvSpPr>
          <p:cNvPr id="23" name="Text 20"/>
          <p:cNvSpPr txBox="1"/>
          <p:nvPr/>
        </p:nvSpPr>
        <p:spPr>
          <a:xfrm>
            <a:off x="10172700" y="2423160"/>
            <a:ext cx="73152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a:t>
            </a:r>
            <a:endParaRPr lang="en-US" sz="2600" dirty="0"/>
          </a:p>
        </p:txBody>
      </p:sp>
      <p:sp>
        <p:nvSpPr>
          <p:cNvPr id="24" name="Text 21"/>
          <p:cNvSpPr txBox="1"/>
          <p:nvPr/>
        </p:nvSpPr>
        <p:spPr>
          <a:xfrm>
            <a:off x="9326880" y="3337560"/>
            <a:ext cx="2423160" cy="685800"/>
          </a:xfrm>
          <a:prstGeom prst="rect">
            <a:avLst/>
          </a:prstGeom>
          <a:noFill/>
          <a:ln/>
        </p:spPr>
        <p:txBody>
          <a:bodyPr wrap="square" lIns="0" tIns="0" rIns="0" bIns="0"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Negative Total Amount</a:t>
            </a:r>
            <a:endParaRPr lang="en-US" sz="1400" dirty="0"/>
          </a:p>
        </p:txBody>
      </p:sp>
      <p:sp>
        <p:nvSpPr>
          <p:cNvPr id="25" name="Text 22"/>
          <p:cNvSpPr txBox="1"/>
          <p:nvPr/>
        </p:nvSpPr>
        <p:spPr>
          <a:xfrm>
            <a:off x="9372600" y="3977640"/>
            <a:ext cx="2331720" cy="91440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จำลอง Total Amount ติดลบ เพื่อทดสอบ Data Quality Validation</a:t>
            </a:r>
            <a:endParaRPr lang="en-US" sz="1100" dirty="0"/>
          </a:p>
        </p:txBody>
      </p:sp>
      <p:sp>
        <p:nvSpPr>
          <p:cNvPr id="26" name="Text 23"/>
          <p:cNvSpPr txBox="1"/>
          <p:nvPr/>
        </p:nvSpPr>
        <p:spPr>
          <a:xfrm>
            <a:off x="548640" y="6492240"/>
            <a:ext cx="8229600" cy="274320"/>
          </a:xfrm>
          <a:prstGeom prst="rect">
            <a:avLst/>
          </a:prstGeom>
          <a:noFill/>
          <a:ln/>
        </p:spPr>
        <p:txBody>
          <a:bodyPr wrap="square" lIns="0" tIns="0" rIns="0" bIns="0" rtlCol="0" anchor="ctr"/>
          <a:lstStyle/>
          <a:p>
            <a:pPr indent="0" marL="0">
              <a:buNone/>
            </a:pPr>
            <a:r>
              <a:rPr lang="en-US" sz="900" dirty="0">
                <a:solidFill>
                  <a:srgbClr val="5B6472"/>
                </a:solidFill>
                <a:latin typeface="Calibri" pitchFamily="34" charset="0"/>
                <a:ea typeface="Calibri" pitchFamily="34" charset="-122"/>
                <a:cs typeface="Calibri" pitchFamily="34" charset="-120"/>
              </a:rPr>
              <a:t>scripts/workload_generator.py — CLI configurable: --flash-sale-at, --late-arrival-rate, --duplicate-rate, --negative-amount-rate</a:t>
            </a:r>
            <a:endParaRPr lang="en-US" sz="900" dirty="0"/>
          </a:p>
        </p:txBody>
      </p:sp>
      <p:sp>
        <p:nvSpPr>
          <p:cNvPr id="25" name="Slide Number Placeholder 0"/>
          <p:cNvSpPr>
            <a:spLocks noGrp="1"/>
          </p:cNvSpPr>
          <p:nvPr>
            <p:ph type="sldNum" sz="quarter" idx="4294967295"/>
          </p:nvPr>
        </p:nvSpPr>
        <p:spPr>
          <a:xfrm>
            <a:off x="1156716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txBox="1"/>
          <p:nvPr/>
        </p:nvSpPr>
        <p:spPr>
          <a:xfrm>
            <a:off x="548640" y="365760"/>
            <a:ext cx="5486400" cy="320040"/>
          </a:xfrm>
          <a:prstGeom prst="rect">
            <a:avLst/>
          </a:prstGeom>
          <a:noFill/>
          <a:ln/>
        </p:spPr>
        <p:txBody>
          <a:bodyPr wrap="square" lIns="0" tIns="0" rIns="0" bIns="0"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TASK 1 — ผลการทดลองจริง</a:t>
            </a:r>
            <a:endParaRPr lang="en-US" sz="1200" dirty="0"/>
          </a:p>
        </p:txBody>
      </p:sp>
      <p:sp>
        <p:nvSpPr>
          <p:cNvPr id="4" name="Text 1"/>
          <p:cNvSpPr txBox="1"/>
          <p:nvPr/>
        </p:nvSpPr>
        <p:spPr>
          <a:xfrm>
            <a:off x="548640" y="658368"/>
            <a:ext cx="110642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ผลการรัน Workload Generator บนระบบจริง</a:t>
            </a:r>
            <a:endParaRPr lang="en-US" sz="3000" dirty="0"/>
          </a:p>
        </p:txBody>
      </p:sp>
      <p:graphicFrame>
        <p:nvGraphicFramePr>
          <p:cNvPr id="5" name="Chart 0" descr=""/>
          <p:cNvGraphicFramePr/>
          <p:nvPr/>
        </p:nvGraphicFramePr>
        <p:xfrm>
          <a:off x="548640" y="1554480"/>
          <a:ext cx="5760720" cy="420624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6629400" y="1691640"/>
            <a:ext cx="4983480" cy="1143000"/>
          </a:xfrm>
          <a:prstGeom prst="roundRect">
            <a:avLst>
              <a:gd name="adj" fmla="val 6400"/>
            </a:avLst>
          </a:prstGeom>
          <a:solidFill>
            <a:srgbClr val="F3F5FB"/>
          </a:solidFill>
          <a:ln/>
        </p:spPr>
      </p:sp>
      <p:sp>
        <p:nvSpPr>
          <p:cNvPr id="7" name="Text 3"/>
          <p:cNvSpPr txBox="1"/>
          <p:nvPr/>
        </p:nvSpPr>
        <p:spPr>
          <a:xfrm>
            <a:off x="6858000" y="1801368"/>
            <a:ext cx="1828800" cy="9144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560</a:t>
            </a:r>
            <a:endParaRPr lang="en-US" sz="3400" dirty="0"/>
          </a:p>
        </p:txBody>
      </p:sp>
      <p:sp>
        <p:nvSpPr>
          <p:cNvPr id="8" name="Text 4"/>
          <p:cNvSpPr txBox="1"/>
          <p:nvPr/>
        </p:nvSpPr>
        <p:spPr>
          <a:xfrm>
            <a:off x="8686800" y="1691640"/>
            <a:ext cx="2788920" cy="1143000"/>
          </a:xfrm>
          <a:prstGeom prst="rect">
            <a:avLst/>
          </a:prstGeom>
          <a:noFill/>
          <a:ln/>
        </p:spPr>
        <p:txBody>
          <a:bodyPr wrap="square" lIns="0" tIns="0" rIns="0" bIns="0" rtlCol="0" anchor="ctr"/>
          <a:lstStyle/>
          <a:p>
            <a:pPr indent="0" marL="0">
              <a:buNone/>
            </a:pPr>
            <a:r>
              <a:rPr lang="en-US" sz="1250" dirty="0">
                <a:solidFill>
                  <a:srgbClr val="5B6472"/>
                </a:solidFill>
                <a:latin typeface="Calibri" pitchFamily="34" charset="0"/>
                <a:ea typeface="Calibri" pitchFamily="34" charset="-122"/>
                <a:cs typeface="Calibri" pitchFamily="34" charset="-120"/>
              </a:rPr>
              <a:t>Total Records</a:t>
            </a:r>
            <a:endParaRPr lang="en-US" sz="1250" dirty="0"/>
          </a:p>
          <a:p>
            <a:pPr indent="0" marL="0">
              <a:buNone/>
            </a:pPr>
            <a:r>
              <a:rPr lang="en-US" sz="1250" dirty="0">
                <a:solidFill>
                  <a:srgbClr val="5B6472"/>
                </a:solidFill>
                <a:latin typeface="Calibri" pitchFamily="34" charset="0"/>
                <a:ea typeface="Calibri" pitchFamily="34" charset="-122"/>
                <a:cs typeface="Calibri" pitchFamily="34" charset="-120"/>
              </a:rPr>
              <a:t>ที่สร้างทั้งหมด</a:t>
            </a:r>
            <a:endParaRPr lang="en-US" sz="1250" dirty="0"/>
          </a:p>
        </p:txBody>
      </p:sp>
      <p:sp>
        <p:nvSpPr>
          <p:cNvPr id="9" name="Shape 5"/>
          <p:cNvSpPr/>
          <p:nvPr/>
        </p:nvSpPr>
        <p:spPr>
          <a:xfrm>
            <a:off x="6629400" y="3017520"/>
            <a:ext cx="4983480" cy="1143000"/>
          </a:xfrm>
          <a:prstGeom prst="roundRect">
            <a:avLst>
              <a:gd name="adj" fmla="val 6400"/>
            </a:avLst>
          </a:prstGeom>
          <a:solidFill>
            <a:srgbClr val="F3F5FB"/>
          </a:solidFill>
          <a:ln/>
        </p:spPr>
      </p:sp>
      <p:sp>
        <p:nvSpPr>
          <p:cNvPr id="10" name="Text 6"/>
          <p:cNvSpPr txBox="1"/>
          <p:nvPr/>
        </p:nvSpPr>
        <p:spPr>
          <a:xfrm>
            <a:off x="6858000" y="3127248"/>
            <a:ext cx="1828800" cy="9144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62</a:t>
            </a:r>
            <a:endParaRPr lang="en-US" sz="3400" dirty="0"/>
          </a:p>
        </p:txBody>
      </p:sp>
      <p:sp>
        <p:nvSpPr>
          <p:cNvPr id="11" name="Text 7"/>
          <p:cNvSpPr txBox="1"/>
          <p:nvPr/>
        </p:nvSpPr>
        <p:spPr>
          <a:xfrm>
            <a:off x="8686800" y="3017520"/>
            <a:ext cx="2788920" cy="1143000"/>
          </a:xfrm>
          <a:prstGeom prst="rect">
            <a:avLst/>
          </a:prstGeom>
          <a:noFill/>
          <a:ln/>
        </p:spPr>
        <p:txBody>
          <a:bodyPr wrap="square" lIns="0" tIns="0" rIns="0" bIns="0" rtlCol="0" anchor="ctr"/>
          <a:lstStyle/>
          <a:p>
            <a:pPr indent="0" marL="0">
              <a:buNone/>
            </a:pPr>
            <a:r>
              <a:rPr lang="en-US" sz="1250" dirty="0">
                <a:solidFill>
                  <a:srgbClr val="5B6472"/>
                </a:solidFill>
                <a:latin typeface="Calibri" pitchFamily="34" charset="0"/>
                <a:ea typeface="Calibri" pitchFamily="34" charset="-122"/>
                <a:cs typeface="Calibri" pitchFamily="34" charset="-120"/>
              </a:rPr>
              <a:t>Anomalies</a:t>
            </a:r>
            <a:endParaRPr lang="en-US" sz="1250" dirty="0"/>
          </a:p>
          <a:p>
            <a:pPr indent="0" marL="0">
              <a:buNone/>
            </a:pPr>
            <a:r>
              <a:rPr lang="en-US" sz="1250" dirty="0">
                <a:solidFill>
                  <a:srgbClr val="5B6472"/>
                </a:solidFill>
                <a:latin typeface="Calibri" pitchFamily="34" charset="0"/>
                <a:ea typeface="Calibri" pitchFamily="34" charset="-122"/>
                <a:cs typeface="Calibri" pitchFamily="34" charset="-120"/>
              </a:rPr>
              <a:t>ที่ Inject โดยตั้งใจ</a:t>
            </a:r>
            <a:endParaRPr lang="en-US" sz="1250" dirty="0"/>
          </a:p>
        </p:txBody>
      </p:sp>
      <p:sp>
        <p:nvSpPr>
          <p:cNvPr id="12" name="Shape 8"/>
          <p:cNvSpPr/>
          <p:nvPr/>
        </p:nvSpPr>
        <p:spPr>
          <a:xfrm>
            <a:off x="6629400" y="4343400"/>
            <a:ext cx="4983480" cy="1143000"/>
          </a:xfrm>
          <a:prstGeom prst="roundRect">
            <a:avLst>
              <a:gd name="adj" fmla="val 6400"/>
            </a:avLst>
          </a:prstGeom>
          <a:solidFill>
            <a:srgbClr val="F3F5FB"/>
          </a:solidFill>
          <a:ln/>
        </p:spPr>
      </p:sp>
      <p:sp>
        <p:nvSpPr>
          <p:cNvPr id="13" name="Text 9"/>
          <p:cNvSpPr txBox="1"/>
          <p:nvPr/>
        </p:nvSpPr>
        <p:spPr>
          <a:xfrm>
            <a:off x="6858000" y="4453128"/>
            <a:ext cx="1828800" cy="9144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10×</a:t>
            </a:r>
            <a:endParaRPr lang="en-US" sz="3400" dirty="0"/>
          </a:p>
        </p:txBody>
      </p:sp>
      <p:sp>
        <p:nvSpPr>
          <p:cNvPr id="14" name="Text 10"/>
          <p:cNvSpPr txBox="1"/>
          <p:nvPr/>
        </p:nvSpPr>
        <p:spPr>
          <a:xfrm>
            <a:off x="8686800" y="4343400"/>
            <a:ext cx="2788920" cy="1143000"/>
          </a:xfrm>
          <a:prstGeom prst="rect">
            <a:avLst/>
          </a:prstGeom>
          <a:noFill/>
          <a:ln/>
        </p:spPr>
        <p:txBody>
          <a:bodyPr wrap="square" lIns="0" tIns="0" rIns="0" bIns="0" rtlCol="0" anchor="ctr"/>
          <a:lstStyle/>
          <a:p>
            <a:pPr indent="0" marL="0">
              <a:buNone/>
            </a:pPr>
            <a:r>
              <a:rPr lang="en-US" sz="1250" dirty="0">
                <a:solidFill>
                  <a:srgbClr val="5B6472"/>
                </a:solidFill>
                <a:latin typeface="Calibri" pitchFamily="34" charset="0"/>
                <a:ea typeface="Calibri" pitchFamily="34" charset="-122"/>
                <a:cs typeface="Calibri" pitchFamily="34" charset="-120"/>
              </a:rPr>
              <a:t>Peak Multiplier</a:t>
            </a:r>
            <a:endParaRPr lang="en-US" sz="1250" dirty="0"/>
          </a:p>
          <a:p>
            <a:pPr indent="0" marL="0">
              <a:buNone/>
            </a:pPr>
            <a:r>
              <a:rPr lang="en-US" sz="1250" dirty="0">
                <a:solidFill>
                  <a:srgbClr val="5B6472"/>
                </a:solidFill>
                <a:latin typeface="Calibri" pitchFamily="34" charset="0"/>
                <a:ea typeface="Calibri" pitchFamily="34" charset="-122"/>
                <a:cs typeface="Calibri" pitchFamily="34" charset="-120"/>
              </a:rPr>
              <a:t>ช่วง Flash Sale</a:t>
            </a:r>
            <a:endParaRPr lang="en-US" sz="1250" dirty="0"/>
          </a:p>
        </p:txBody>
      </p:sp>
      <p:sp>
        <p:nvSpPr>
          <p:cNvPr id="15" name="Text 11"/>
          <p:cNvSpPr txBox="1"/>
          <p:nvPr/>
        </p:nvSpPr>
        <p:spPr>
          <a:xfrm>
            <a:off x="6629400" y="5715000"/>
            <a:ext cx="4983480" cy="822960"/>
          </a:xfrm>
          <a:prstGeom prst="rect">
            <a:avLst/>
          </a:prstGeom>
          <a:noFill/>
          <a:ln/>
        </p:spPr>
        <p:txBody>
          <a:bodyPr wrap="square" lIns="0" tIns="0" rIns="0" bIns="0" rtlCol="0" anchor="ctr"/>
          <a:lstStyle/>
          <a:p>
            <a:pPr indent="0" marL="0">
              <a:buNone/>
            </a:pPr>
            <a:r>
              <a:rPr lang="en-US" sz="950" dirty="0">
                <a:solidFill>
                  <a:srgbClr val="5B6472"/>
                </a:solidFill>
                <a:latin typeface="Courier New" pitchFamily="34" charset="0"/>
                <a:ea typeface="Courier New" pitchFamily="34" charset="-122"/>
                <a:cs typeface="Courier New" pitchFamily="34" charset="-120"/>
              </a:rPr>
              <a:t>ทดสอบจริงด้วยคำสั่ง: python workload_generator.py --duration 100 --flash-sale-at 25 --flash-sale-multiplier 10</a:t>
            </a:r>
            <a:endParaRPr lang="en-US" sz="950" dirty="0"/>
          </a:p>
        </p:txBody>
      </p:sp>
      <p:sp>
        <p:nvSpPr>
          <p:cNvPr id="25" name="Slide Number Placeholder 0"/>
          <p:cNvSpPr>
            <a:spLocks noGrp="1"/>
          </p:cNvSpPr>
          <p:nvPr>
            <p:ph type="sldNum" sz="quarter" idx="4294967295"/>
          </p:nvPr>
        </p:nvSpPr>
        <p:spPr>
          <a:xfrm>
            <a:off x="1156716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txBox="1"/>
          <p:nvPr/>
        </p:nvSpPr>
        <p:spPr>
          <a:xfrm>
            <a:off x="548640" y="365760"/>
            <a:ext cx="5486400" cy="320040"/>
          </a:xfrm>
          <a:prstGeom prst="rect">
            <a:avLst/>
          </a:prstGeom>
          <a:noFill/>
          <a:ln/>
        </p:spPr>
        <p:txBody>
          <a:bodyPr wrap="square" lIns="0" tIns="0" rIns="0" bIns="0"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TASK 2</a:t>
            </a:r>
            <a:endParaRPr lang="en-US" sz="1200" dirty="0"/>
          </a:p>
        </p:txBody>
      </p:sp>
      <p:sp>
        <p:nvSpPr>
          <p:cNvPr id="4" name="Text 1"/>
          <p:cNvSpPr txBox="1"/>
          <p:nvPr/>
        </p:nvSpPr>
        <p:spPr>
          <a:xfrm>
            <a:off x="548640" y="658368"/>
            <a:ext cx="110642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Resilient Airflow Ingestion Pipeline</a:t>
            </a:r>
            <a:endParaRPr lang="en-US" sz="3000" dirty="0"/>
          </a:p>
        </p:txBody>
      </p:sp>
      <p:sp>
        <p:nvSpPr>
          <p:cNvPr id="5" name="Text 2"/>
          <p:cNvSpPr txBox="1"/>
          <p:nvPr/>
        </p:nvSpPr>
        <p:spPr>
          <a:xfrm>
            <a:off x="548640" y="1417320"/>
            <a:ext cx="11064240" cy="457200"/>
          </a:xfrm>
          <a:prstGeom prst="rect">
            <a:avLst/>
          </a:prstGeom>
          <a:noFill/>
          <a:ln/>
        </p:spPr>
        <p:txBody>
          <a:bodyPr wrap="square" lIns="0" tIns="0" rIns="0" bIns="0" rtlCol="0" anchor="ctr"/>
          <a:lstStyle/>
          <a:p>
            <a:pPr indent="0" marL="0">
              <a:buNone/>
            </a:pPr>
            <a:r>
              <a:rPr lang="en-US" sz="1400" dirty="0">
                <a:solidFill>
                  <a:srgbClr val="5B6472"/>
                </a:solidFill>
                <a:latin typeface="Calibri" pitchFamily="34" charset="0"/>
                <a:ea typeface="Calibri" pitchFamily="34" charset="-122"/>
                <a:cs typeface="Calibri" pitchFamily="34" charset="-120"/>
              </a:rPr>
              <a:t>dags/pos_ingestion_pipeline.py — ออกแบบตามมาตรฐาน Clean Code ด้วย TaskFlow API</a:t>
            </a:r>
            <a:endParaRPr lang="en-US" sz="1400" dirty="0"/>
          </a:p>
        </p:txBody>
      </p:sp>
      <p:sp>
        <p:nvSpPr>
          <p:cNvPr id="6" name="Shape 3"/>
          <p:cNvSpPr/>
          <p:nvPr/>
        </p:nvSpPr>
        <p:spPr>
          <a:xfrm>
            <a:off x="548640" y="2103120"/>
            <a:ext cx="11064240" cy="914400"/>
          </a:xfrm>
          <a:prstGeom prst="roundRect">
            <a:avLst>
              <a:gd name="adj" fmla="val 8000"/>
            </a:avLst>
          </a:prstGeom>
          <a:solidFill>
            <a:srgbClr val="F3F5FB"/>
          </a:solidFill>
          <a:ln/>
        </p:spPr>
      </p:sp>
      <p:sp>
        <p:nvSpPr>
          <p:cNvPr id="7" name="Shape 4"/>
          <p:cNvSpPr/>
          <p:nvPr/>
        </p:nvSpPr>
        <p:spPr>
          <a:xfrm>
            <a:off x="777240" y="2304288"/>
            <a:ext cx="128016" cy="512064"/>
          </a:xfrm>
          <a:prstGeom prst="roundRect">
            <a:avLst>
              <a:gd name="adj" fmla="val 14286"/>
            </a:avLst>
          </a:prstGeom>
          <a:solidFill>
            <a:srgbClr val="1E2761"/>
          </a:solidFill>
          <a:ln/>
        </p:spPr>
      </p:sp>
      <p:sp>
        <p:nvSpPr>
          <p:cNvPr id="8" name="Text 5"/>
          <p:cNvSpPr txBox="1"/>
          <p:nvPr/>
        </p:nvSpPr>
        <p:spPr>
          <a:xfrm>
            <a:off x="1097280" y="2194560"/>
            <a:ext cx="3291840" cy="7315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Deferrable Operator</a:t>
            </a:r>
            <a:endParaRPr lang="en-US" sz="1450" dirty="0"/>
          </a:p>
        </p:txBody>
      </p:sp>
      <p:sp>
        <p:nvSpPr>
          <p:cNvPr id="9" name="Text 6"/>
          <p:cNvSpPr txBox="1"/>
          <p:nvPr/>
        </p:nvSpPr>
        <p:spPr>
          <a:xfrm>
            <a:off x="4480560" y="2194560"/>
            <a:ext cx="6949440" cy="731520"/>
          </a:xfrm>
          <a:prstGeom prst="rect">
            <a:avLst/>
          </a:prstGeom>
          <a:noFill/>
          <a:ln/>
        </p:spPr>
        <p:txBody>
          <a:bodyPr wrap="square" lIns="0" tIns="0" rIns="0" bIns="0" rtlCol="0" anchor="ctr"/>
          <a:lstStyle/>
          <a:p>
            <a:pPr indent="0" marL="0">
              <a:buNone/>
            </a:pPr>
            <a:r>
              <a:rPr lang="en-US" sz="1250" dirty="0">
                <a:solidFill>
                  <a:srgbClr val="5B6472"/>
                </a:solidFill>
                <a:latin typeface="Calibri" pitchFamily="34" charset="0"/>
                <a:ea typeface="Calibri" pitchFamily="34" charset="-122"/>
                <a:cs typeface="Calibri" pitchFamily="34" charset="-120"/>
              </a:rPr>
              <a:t>FileSensor(deferrable=True) แทน mode='poke' — คืน Worker Slot ระหว่างรอไฟล์</a:t>
            </a:r>
            <a:endParaRPr lang="en-US" sz="1250" dirty="0"/>
          </a:p>
        </p:txBody>
      </p:sp>
      <p:sp>
        <p:nvSpPr>
          <p:cNvPr id="10" name="Shape 7"/>
          <p:cNvSpPr/>
          <p:nvPr/>
        </p:nvSpPr>
        <p:spPr>
          <a:xfrm>
            <a:off x="548640" y="3154680"/>
            <a:ext cx="11064240" cy="914400"/>
          </a:xfrm>
          <a:prstGeom prst="roundRect">
            <a:avLst>
              <a:gd name="adj" fmla="val 8000"/>
            </a:avLst>
          </a:prstGeom>
          <a:solidFill>
            <a:srgbClr val="FFFFFF"/>
          </a:solidFill>
          <a:ln w="12700">
            <a:solidFill>
              <a:srgbClr val="E3E7F0"/>
            </a:solidFill>
            <a:prstDash val="solid"/>
          </a:ln>
        </p:spPr>
      </p:sp>
      <p:sp>
        <p:nvSpPr>
          <p:cNvPr id="11" name="Shape 8"/>
          <p:cNvSpPr/>
          <p:nvPr/>
        </p:nvSpPr>
        <p:spPr>
          <a:xfrm>
            <a:off x="777240" y="3355848"/>
            <a:ext cx="128016" cy="512064"/>
          </a:xfrm>
          <a:prstGeom prst="roundRect">
            <a:avLst>
              <a:gd name="adj" fmla="val 14286"/>
            </a:avLst>
          </a:prstGeom>
          <a:solidFill>
            <a:srgbClr val="1E2761"/>
          </a:solidFill>
          <a:ln/>
        </p:spPr>
      </p:sp>
      <p:sp>
        <p:nvSpPr>
          <p:cNvPr id="12" name="Text 9"/>
          <p:cNvSpPr txBox="1"/>
          <p:nvPr/>
        </p:nvSpPr>
        <p:spPr>
          <a:xfrm>
            <a:off x="1097280" y="3246120"/>
            <a:ext cx="3291840" cy="7315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TaskFlow API + XCom</a:t>
            </a:r>
            <a:endParaRPr lang="en-US" sz="1450" dirty="0"/>
          </a:p>
        </p:txBody>
      </p:sp>
      <p:sp>
        <p:nvSpPr>
          <p:cNvPr id="13" name="Text 10"/>
          <p:cNvSpPr txBox="1"/>
          <p:nvPr/>
        </p:nvSpPr>
        <p:spPr>
          <a:xfrm>
            <a:off x="4480560" y="3246120"/>
            <a:ext cx="6949440" cy="731520"/>
          </a:xfrm>
          <a:prstGeom prst="rect">
            <a:avLst/>
          </a:prstGeom>
          <a:noFill/>
          <a:ln/>
        </p:spPr>
        <p:txBody>
          <a:bodyPr wrap="square" lIns="0" tIns="0" rIns="0" bIns="0" rtlCol="0" anchor="ctr"/>
          <a:lstStyle/>
          <a:p>
            <a:pPr indent="0" marL="0">
              <a:buNone/>
            </a:pPr>
            <a:r>
              <a:rPr lang="en-US" sz="1250" dirty="0">
                <a:solidFill>
                  <a:srgbClr val="5B6472"/>
                </a:solidFill>
                <a:latin typeface="Calibri" pitchFamily="34" charset="0"/>
                <a:ea typeface="Calibri" pitchFamily="34" charset="-122"/>
                <a:cs typeface="Calibri" pitchFamily="34" charset="-120"/>
              </a:rPr>
              <a:t>@dag / @task decorator ส่งข้อมูลระหว่าง task ผ่าน XCom ตลอด pipeline</a:t>
            </a:r>
            <a:endParaRPr lang="en-US" sz="1250" dirty="0"/>
          </a:p>
        </p:txBody>
      </p:sp>
      <p:sp>
        <p:nvSpPr>
          <p:cNvPr id="14" name="Shape 11"/>
          <p:cNvSpPr/>
          <p:nvPr/>
        </p:nvSpPr>
        <p:spPr>
          <a:xfrm>
            <a:off x="548640" y="4206240"/>
            <a:ext cx="11064240" cy="914400"/>
          </a:xfrm>
          <a:prstGeom prst="roundRect">
            <a:avLst>
              <a:gd name="adj" fmla="val 8000"/>
            </a:avLst>
          </a:prstGeom>
          <a:solidFill>
            <a:srgbClr val="F3F5FB"/>
          </a:solidFill>
          <a:ln/>
        </p:spPr>
      </p:sp>
      <p:sp>
        <p:nvSpPr>
          <p:cNvPr id="15" name="Shape 12"/>
          <p:cNvSpPr/>
          <p:nvPr/>
        </p:nvSpPr>
        <p:spPr>
          <a:xfrm>
            <a:off x="777240" y="4407408"/>
            <a:ext cx="128016" cy="512064"/>
          </a:xfrm>
          <a:prstGeom prst="roundRect">
            <a:avLst>
              <a:gd name="adj" fmla="val 14286"/>
            </a:avLst>
          </a:prstGeom>
          <a:solidFill>
            <a:srgbClr val="1E2761"/>
          </a:solidFill>
          <a:ln/>
        </p:spPr>
      </p:sp>
      <p:sp>
        <p:nvSpPr>
          <p:cNvPr id="16" name="Text 13"/>
          <p:cNvSpPr txBox="1"/>
          <p:nvPr/>
        </p:nvSpPr>
        <p:spPr>
          <a:xfrm>
            <a:off x="1097280" y="4297680"/>
            <a:ext cx="3291840" cy="7315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Idempotency &amp; Cleanse</a:t>
            </a:r>
            <a:endParaRPr lang="en-US" sz="1450" dirty="0"/>
          </a:p>
        </p:txBody>
      </p:sp>
      <p:sp>
        <p:nvSpPr>
          <p:cNvPr id="17" name="Text 14"/>
          <p:cNvSpPr txBox="1"/>
          <p:nvPr/>
        </p:nvSpPr>
        <p:spPr>
          <a:xfrm>
            <a:off x="4480560" y="4297680"/>
            <a:ext cx="6949440" cy="731520"/>
          </a:xfrm>
          <a:prstGeom prst="rect">
            <a:avLst/>
          </a:prstGeom>
          <a:noFill/>
          <a:ln/>
        </p:spPr>
        <p:txBody>
          <a:bodyPr wrap="square" lIns="0" tIns="0" rIns="0" bIns="0" rtlCol="0" anchor="ctr"/>
          <a:lstStyle/>
          <a:p>
            <a:pPr indent="0" marL="0">
              <a:buNone/>
            </a:pPr>
            <a:r>
              <a:rPr lang="en-US" sz="1250" dirty="0">
                <a:solidFill>
                  <a:srgbClr val="5B6472"/>
                </a:solidFill>
                <a:latin typeface="Calibri" pitchFamily="34" charset="0"/>
                <a:ea typeface="Calibri" pitchFamily="34" charset="-122"/>
                <a:cs typeface="Calibri" pitchFamily="34" charset="-120"/>
              </a:rPr>
              <a:t>INSERT ... ON CONFLICT DO UPDATE — รัน DAG ซ้ำข้อมูลไม่ซ้ำซ้อน 100%</a:t>
            </a:r>
            <a:endParaRPr lang="en-US" sz="1250" dirty="0"/>
          </a:p>
        </p:txBody>
      </p:sp>
      <p:sp>
        <p:nvSpPr>
          <p:cNvPr id="18" name="Shape 15"/>
          <p:cNvSpPr/>
          <p:nvPr/>
        </p:nvSpPr>
        <p:spPr>
          <a:xfrm>
            <a:off x="548640" y="5257800"/>
            <a:ext cx="11064240" cy="914400"/>
          </a:xfrm>
          <a:prstGeom prst="roundRect">
            <a:avLst>
              <a:gd name="adj" fmla="val 8000"/>
            </a:avLst>
          </a:prstGeom>
          <a:solidFill>
            <a:srgbClr val="FFFFFF"/>
          </a:solidFill>
          <a:ln w="12700">
            <a:solidFill>
              <a:srgbClr val="E3E7F0"/>
            </a:solidFill>
            <a:prstDash val="solid"/>
          </a:ln>
        </p:spPr>
      </p:sp>
      <p:sp>
        <p:nvSpPr>
          <p:cNvPr id="19" name="Shape 16"/>
          <p:cNvSpPr/>
          <p:nvPr/>
        </p:nvSpPr>
        <p:spPr>
          <a:xfrm>
            <a:off x="777240" y="5458968"/>
            <a:ext cx="128016" cy="512064"/>
          </a:xfrm>
          <a:prstGeom prst="roundRect">
            <a:avLst>
              <a:gd name="adj" fmla="val 14286"/>
            </a:avLst>
          </a:prstGeom>
          <a:solidFill>
            <a:srgbClr val="1E2761"/>
          </a:solidFill>
          <a:ln/>
        </p:spPr>
      </p:sp>
      <p:sp>
        <p:nvSpPr>
          <p:cNvPr id="20" name="Text 17"/>
          <p:cNvSpPr txBox="1"/>
          <p:nvPr/>
        </p:nvSpPr>
        <p:spPr>
          <a:xfrm>
            <a:off x="1097280" y="5349240"/>
            <a:ext cx="3291840" cy="7315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Dynamic Alerting</a:t>
            </a:r>
            <a:endParaRPr lang="en-US" sz="1450" dirty="0"/>
          </a:p>
        </p:txBody>
      </p:sp>
      <p:sp>
        <p:nvSpPr>
          <p:cNvPr id="21" name="Text 18"/>
          <p:cNvSpPr txBox="1"/>
          <p:nvPr/>
        </p:nvSpPr>
        <p:spPr>
          <a:xfrm>
            <a:off x="4480560" y="5349240"/>
            <a:ext cx="6949440" cy="731520"/>
          </a:xfrm>
          <a:prstGeom prst="rect">
            <a:avLst/>
          </a:prstGeom>
          <a:noFill/>
          <a:ln/>
        </p:spPr>
        <p:txBody>
          <a:bodyPr wrap="square" lIns="0" tIns="0" rIns="0" bIns="0" rtlCol="0" anchor="ctr"/>
          <a:lstStyle/>
          <a:p>
            <a:pPr indent="0" marL="0">
              <a:buNone/>
            </a:pPr>
            <a:r>
              <a:rPr lang="en-US" sz="1250" dirty="0">
                <a:solidFill>
                  <a:srgbClr val="5B6472"/>
                </a:solidFill>
                <a:latin typeface="Calibri" pitchFamily="34" charset="0"/>
                <a:ea typeface="Calibri" pitchFamily="34" charset="-122"/>
                <a:cs typeface="Calibri" pitchFamily="34" charset="-120"/>
              </a:rPr>
              <a:t>แจ้งเตือนอัตโนมัติผ่าน Telegram/Slack Webhook เมื่อพบ Anomaly</a:t>
            </a:r>
            <a:endParaRPr lang="en-US" sz="1250" dirty="0"/>
          </a:p>
        </p:txBody>
      </p:sp>
      <p:sp>
        <p:nvSpPr>
          <p:cNvPr id="25" name="Slide Number Placeholder 0"/>
          <p:cNvSpPr>
            <a:spLocks noGrp="1"/>
          </p:cNvSpPr>
          <p:nvPr>
            <p:ph type="sldNum" sz="quarter" idx="4294967295"/>
          </p:nvPr>
        </p:nvSpPr>
        <p:spPr>
          <a:xfrm>
            <a:off x="1156716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548640" y="365760"/>
            <a:ext cx="5486400" cy="320040"/>
          </a:xfrm>
          <a:prstGeom prst="rect">
            <a:avLst/>
          </a:prstGeom>
          <a:noFill/>
          <a:ln/>
        </p:spPr>
        <p:txBody>
          <a:bodyPr wrap="square" lIns="0" tIns="0" rIns="0" bIns="0"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TASK 2 — RESOURCE OPTIMIZATION</a:t>
            </a:r>
            <a:endParaRPr lang="en-US" sz="1200" dirty="0"/>
          </a:p>
        </p:txBody>
      </p:sp>
      <p:sp>
        <p:nvSpPr>
          <p:cNvPr id="4" name="Text 1"/>
          <p:cNvSpPr txBox="1"/>
          <p:nvPr/>
        </p:nvSpPr>
        <p:spPr>
          <a:xfrm>
            <a:off x="548640" y="658368"/>
            <a:ext cx="110642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Deferrable Operator vs. FileSensor แบบดั้งเดิม</a:t>
            </a:r>
            <a:endParaRPr lang="en-US" sz="3000" dirty="0"/>
          </a:p>
        </p:txBody>
      </p:sp>
      <p:sp>
        <p:nvSpPr>
          <p:cNvPr id="5" name="Shape 2"/>
          <p:cNvSpPr/>
          <p:nvPr/>
        </p:nvSpPr>
        <p:spPr>
          <a:xfrm>
            <a:off x="548640" y="1737360"/>
            <a:ext cx="3520440" cy="3246120"/>
          </a:xfrm>
          <a:prstGeom prst="roundRect">
            <a:avLst>
              <a:gd name="adj" fmla="val 2254"/>
            </a:avLst>
          </a:prstGeom>
          <a:solidFill>
            <a:srgbClr val="F3F5FB"/>
          </a:solidFill>
          <a:ln/>
        </p:spPr>
      </p:sp>
      <p:sp>
        <p:nvSpPr>
          <p:cNvPr id="6" name="Text 3"/>
          <p:cNvSpPr txBox="1"/>
          <p:nvPr/>
        </p:nvSpPr>
        <p:spPr>
          <a:xfrm>
            <a:off x="777240" y="1965960"/>
            <a:ext cx="3063240" cy="4572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mode='poke'</a:t>
            </a:r>
            <a:endParaRPr lang="en-US" sz="1500" dirty="0"/>
          </a:p>
        </p:txBody>
      </p:sp>
      <p:sp>
        <p:nvSpPr>
          <p:cNvPr id="7" name="Shape 4"/>
          <p:cNvSpPr/>
          <p:nvPr/>
        </p:nvSpPr>
        <p:spPr>
          <a:xfrm>
            <a:off x="777240" y="2560320"/>
            <a:ext cx="3063240" cy="502920"/>
          </a:xfrm>
          <a:prstGeom prst="roundRect">
            <a:avLst>
              <a:gd name="adj" fmla="val 10909"/>
            </a:avLst>
          </a:prstGeom>
          <a:solidFill>
            <a:srgbClr val="FFFFFF"/>
          </a:solidFill>
          <a:ln/>
        </p:spPr>
      </p:sp>
      <p:sp>
        <p:nvSpPr>
          <p:cNvPr id="8" name="Text 5"/>
          <p:cNvSpPr txBox="1"/>
          <p:nvPr/>
        </p:nvSpPr>
        <p:spPr>
          <a:xfrm>
            <a:off x="777240" y="2560320"/>
            <a:ext cx="3063240" cy="502920"/>
          </a:xfrm>
          <a:prstGeom prst="rect">
            <a:avLst/>
          </a:prstGeom>
          <a:noFill/>
          <a:ln/>
        </p:spPr>
        <p:txBody>
          <a:bodyPr wrap="square" lIns="0" tIns="0" rIns="0" bIns="0" rtlCol="0" anchor="ctr"/>
          <a:lstStyle/>
          <a:p>
            <a:pPr algn="ctr" indent="0" marL="0">
              <a:buNone/>
            </a:pPr>
            <a:r>
              <a:rPr lang="en-US" sz="1150" b="1" dirty="0">
                <a:solidFill>
                  <a:srgbClr val="1E2761"/>
                </a:solidFill>
                <a:latin typeface="Courier New" pitchFamily="34" charset="0"/>
                <a:ea typeface="Courier New" pitchFamily="34" charset="-122"/>
                <a:cs typeface="Courier New" pitchFamily="34" charset="-120"/>
              </a:rPr>
              <a:t>state = "running</a:t>
            </a:r>
            <a:endParaRPr lang="en-US" sz="1150" dirty="0"/>
          </a:p>
          <a:p>
            <a:pPr algn="ctr" indent="0" marL="0">
              <a:buNone/>
            </a:pPr>
            <a:r>
              <a:rPr lang="en-US" sz="1150" b="1" dirty="0">
                <a:solidFill>
                  <a:srgbClr val="1E2761"/>
                </a:solidFill>
                <a:latin typeface="Courier New" pitchFamily="34" charset="0"/>
                <a:ea typeface="Courier New" pitchFamily="34" charset="-122"/>
                <a:cs typeface="Courier New" pitchFamily="34" charset="-120"/>
              </a:rPr>
              <a:t>(ตลอดการรอ)"</a:t>
            </a:r>
            <a:endParaRPr lang="en-US" sz="1150" dirty="0"/>
          </a:p>
        </p:txBody>
      </p:sp>
      <p:sp>
        <p:nvSpPr>
          <p:cNvPr id="9" name="Text 6"/>
          <p:cNvSpPr txBox="1"/>
          <p:nvPr/>
        </p:nvSpPr>
        <p:spPr>
          <a:xfrm>
            <a:off x="777240" y="3337560"/>
            <a:ext cx="3063240" cy="1371600"/>
          </a:xfrm>
          <a:prstGeom prst="rect">
            <a:avLst/>
          </a:prstGeom>
          <a:noFill/>
          <a:ln/>
        </p:spPr>
        <p:txBody>
          <a:bodyPr wrap="square" lIns="0" tIns="0" rIns="0" bIns="0" rtlCol="0" anchor="ctr"/>
          <a:lstStyle/>
          <a:p>
            <a:pPr indent="0" marL="0">
              <a:buNone/>
            </a:pPr>
            <a:r>
              <a:rPr lang="en-US" sz="1250" dirty="0">
                <a:solidFill>
                  <a:srgbClr val="5B6472"/>
                </a:solidFill>
                <a:latin typeface="Calibri" pitchFamily="34" charset="0"/>
                <a:ea typeface="Calibri" pitchFamily="34" charset="-122"/>
                <a:cs typeface="Calibri" pitchFamily="34" charset="-120"/>
              </a:rPr>
              <a:t>ครอบครอง Worker Slot ตลอดเวลา</a:t>
            </a:r>
            <a:endParaRPr lang="en-US" sz="1250" dirty="0"/>
          </a:p>
        </p:txBody>
      </p:sp>
      <p:sp>
        <p:nvSpPr>
          <p:cNvPr id="10" name="Shape 7"/>
          <p:cNvSpPr/>
          <p:nvPr/>
        </p:nvSpPr>
        <p:spPr>
          <a:xfrm>
            <a:off x="4325112" y="1737360"/>
            <a:ext cx="3520440" cy="3246120"/>
          </a:xfrm>
          <a:prstGeom prst="roundRect">
            <a:avLst>
              <a:gd name="adj" fmla="val 2254"/>
            </a:avLst>
          </a:prstGeom>
          <a:solidFill>
            <a:srgbClr val="F3F5FB"/>
          </a:solidFill>
          <a:ln/>
        </p:spPr>
      </p:sp>
      <p:sp>
        <p:nvSpPr>
          <p:cNvPr id="11" name="Text 8"/>
          <p:cNvSpPr txBox="1"/>
          <p:nvPr/>
        </p:nvSpPr>
        <p:spPr>
          <a:xfrm>
            <a:off x="4553712" y="1965960"/>
            <a:ext cx="3063240" cy="4572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mode='reschedule'</a:t>
            </a:r>
            <a:endParaRPr lang="en-US" sz="1500" dirty="0"/>
          </a:p>
        </p:txBody>
      </p:sp>
      <p:sp>
        <p:nvSpPr>
          <p:cNvPr id="12" name="Shape 9"/>
          <p:cNvSpPr/>
          <p:nvPr/>
        </p:nvSpPr>
        <p:spPr>
          <a:xfrm>
            <a:off x="4553712" y="2560320"/>
            <a:ext cx="3063240" cy="502920"/>
          </a:xfrm>
          <a:prstGeom prst="roundRect">
            <a:avLst>
              <a:gd name="adj" fmla="val 10909"/>
            </a:avLst>
          </a:prstGeom>
          <a:solidFill>
            <a:srgbClr val="FFFFFF"/>
          </a:solidFill>
          <a:ln/>
        </p:spPr>
      </p:sp>
      <p:sp>
        <p:nvSpPr>
          <p:cNvPr id="13" name="Text 10"/>
          <p:cNvSpPr txBox="1"/>
          <p:nvPr/>
        </p:nvSpPr>
        <p:spPr>
          <a:xfrm>
            <a:off x="4553712" y="2560320"/>
            <a:ext cx="3063240" cy="502920"/>
          </a:xfrm>
          <a:prstGeom prst="rect">
            <a:avLst/>
          </a:prstGeom>
          <a:noFill/>
          <a:ln/>
        </p:spPr>
        <p:txBody>
          <a:bodyPr wrap="square" lIns="0" tIns="0" rIns="0" bIns="0" rtlCol="0" anchor="ctr"/>
          <a:lstStyle/>
          <a:p>
            <a:pPr algn="ctr" indent="0" marL="0">
              <a:buNone/>
            </a:pPr>
            <a:r>
              <a:rPr lang="en-US" sz="1150" b="1" dirty="0">
                <a:solidFill>
                  <a:srgbClr val="1E2761"/>
                </a:solidFill>
                <a:latin typeface="Courier New" pitchFamily="34" charset="0"/>
                <a:ea typeface="Courier New" pitchFamily="34" charset="-122"/>
                <a:cs typeface="Courier New" pitchFamily="34" charset="-120"/>
              </a:rPr>
              <a:t>state = "up_for_reschedule"</a:t>
            </a:r>
            <a:endParaRPr lang="en-US" sz="1150" dirty="0"/>
          </a:p>
        </p:txBody>
      </p:sp>
      <p:sp>
        <p:nvSpPr>
          <p:cNvPr id="14" name="Text 11"/>
          <p:cNvSpPr txBox="1"/>
          <p:nvPr/>
        </p:nvSpPr>
        <p:spPr>
          <a:xfrm>
            <a:off x="4553712" y="3337560"/>
            <a:ext cx="3063240" cy="1371600"/>
          </a:xfrm>
          <a:prstGeom prst="rect">
            <a:avLst/>
          </a:prstGeom>
          <a:noFill/>
          <a:ln/>
        </p:spPr>
        <p:txBody>
          <a:bodyPr wrap="square" lIns="0" tIns="0" rIns="0" bIns="0" rtlCol="0" anchor="ctr"/>
          <a:lstStyle/>
          <a:p>
            <a:pPr indent="0" marL="0">
              <a:buNone/>
            </a:pPr>
            <a:r>
              <a:rPr lang="en-US" sz="1250" dirty="0">
                <a:solidFill>
                  <a:srgbClr val="5B6472"/>
                </a:solidFill>
                <a:latin typeface="Calibri" pitchFamily="34" charset="0"/>
                <a:ea typeface="Calibri" pitchFamily="34" charset="-122"/>
                <a:cs typeface="Calibri" pitchFamily="34" charset="-120"/>
              </a:rPr>
              <a:t>คืน Slot ระหว่างรอบ poke_interval</a:t>
            </a:r>
            <a:endParaRPr lang="en-US" sz="1250" dirty="0"/>
          </a:p>
        </p:txBody>
      </p:sp>
      <p:sp>
        <p:nvSpPr>
          <p:cNvPr id="15" name="Shape 12"/>
          <p:cNvSpPr/>
          <p:nvPr/>
        </p:nvSpPr>
        <p:spPr>
          <a:xfrm>
            <a:off x="8101584" y="1737360"/>
            <a:ext cx="3520440" cy="3246120"/>
          </a:xfrm>
          <a:prstGeom prst="roundRect">
            <a:avLst>
              <a:gd name="adj" fmla="val 2254"/>
            </a:avLst>
          </a:prstGeom>
          <a:solidFill>
            <a:srgbClr val="1E2761"/>
          </a:solidFill>
          <a:ln/>
        </p:spPr>
      </p:sp>
      <p:sp>
        <p:nvSpPr>
          <p:cNvPr id="16" name="Text 13"/>
          <p:cNvSpPr txBox="1"/>
          <p:nvPr/>
        </p:nvSpPr>
        <p:spPr>
          <a:xfrm>
            <a:off x="8330184" y="1965960"/>
            <a:ext cx="3063240"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deferrable=True</a:t>
            </a:r>
            <a:endParaRPr lang="en-US" sz="1500" dirty="0"/>
          </a:p>
        </p:txBody>
      </p:sp>
      <p:sp>
        <p:nvSpPr>
          <p:cNvPr id="17" name="Shape 14"/>
          <p:cNvSpPr/>
          <p:nvPr/>
        </p:nvSpPr>
        <p:spPr>
          <a:xfrm>
            <a:off x="8330184" y="2560320"/>
            <a:ext cx="3063240" cy="502920"/>
          </a:xfrm>
          <a:prstGeom prst="roundRect">
            <a:avLst>
              <a:gd name="adj" fmla="val 10909"/>
            </a:avLst>
          </a:prstGeom>
          <a:solidFill>
            <a:srgbClr val="CADCFC"/>
          </a:solidFill>
          <a:ln/>
        </p:spPr>
      </p:sp>
      <p:sp>
        <p:nvSpPr>
          <p:cNvPr id="18" name="Text 15"/>
          <p:cNvSpPr txBox="1"/>
          <p:nvPr/>
        </p:nvSpPr>
        <p:spPr>
          <a:xfrm>
            <a:off x="8330184" y="2560320"/>
            <a:ext cx="3063240" cy="502920"/>
          </a:xfrm>
          <a:prstGeom prst="rect">
            <a:avLst/>
          </a:prstGeom>
          <a:noFill/>
          <a:ln/>
        </p:spPr>
        <p:txBody>
          <a:bodyPr wrap="square" lIns="0" tIns="0" rIns="0" bIns="0" rtlCol="0" anchor="ctr"/>
          <a:lstStyle/>
          <a:p>
            <a:pPr algn="ctr" indent="0" marL="0">
              <a:buNone/>
            </a:pPr>
            <a:r>
              <a:rPr lang="en-US" sz="1150" b="1" dirty="0">
                <a:solidFill>
                  <a:srgbClr val="1E2761"/>
                </a:solidFill>
                <a:latin typeface="Courier New" pitchFamily="34" charset="0"/>
                <a:ea typeface="Courier New" pitchFamily="34" charset="-122"/>
                <a:cs typeface="Courier New" pitchFamily="34" charset="-120"/>
              </a:rPr>
              <a:t>state = "deferred"</a:t>
            </a:r>
            <a:endParaRPr lang="en-US" sz="1150" dirty="0"/>
          </a:p>
        </p:txBody>
      </p:sp>
      <p:sp>
        <p:nvSpPr>
          <p:cNvPr id="19" name="Text 16"/>
          <p:cNvSpPr txBox="1"/>
          <p:nvPr/>
        </p:nvSpPr>
        <p:spPr>
          <a:xfrm>
            <a:off x="8330184" y="3337560"/>
            <a:ext cx="3063240" cy="13716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คืน Slot ทั้งหมด — Triggerer จัดการแทน</a:t>
            </a:r>
            <a:endParaRPr lang="en-US" sz="1250" dirty="0"/>
          </a:p>
        </p:txBody>
      </p:sp>
      <p:sp>
        <p:nvSpPr>
          <p:cNvPr id="20" name="Text 17"/>
          <p:cNvSpPr txBox="1"/>
          <p:nvPr/>
        </p:nvSpPr>
        <p:spPr>
          <a:xfrm>
            <a:off x="548640" y="5257800"/>
            <a:ext cx="11064240" cy="45720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 ยืนยันด้วยการรันจริง: benchmark_sensors.py วัด task_states_seen ของทั้ง 3 DAG ตรงตามที่ออกแบบไว้ทุกกรณี</a:t>
            </a:r>
            <a:endParaRPr lang="en-US" sz="1300" dirty="0"/>
          </a:p>
        </p:txBody>
      </p:sp>
      <p:sp>
        <p:nvSpPr>
          <p:cNvPr id="25" name="Slide Number Placeholder 0"/>
          <p:cNvSpPr>
            <a:spLocks noGrp="1"/>
          </p:cNvSpPr>
          <p:nvPr>
            <p:ph type="sldNum" sz="quarter" idx="4294967295"/>
          </p:nvPr>
        </p:nvSpPr>
        <p:spPr>
          <a:xfrm>
            <a:off x="1156716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txBox="1"/>
          <p:nvPr/>
        </p:nvSpPr>
        <p:spPr>
          <a:xfrm>
            <a:off x="548640" y="365760"/>
            <a:ext cx="5486400" cy="320040"/>
          </a:xfrm>
          <a:prstGeom prst="rect">
            <a:avLst/>
          </a:prstGeom>
          <a:noFill/>
          <a:ln/>
        </p:spPr>
        <p:txBody>
          <a:bodyPr wrap="square" lIns="0" tIns="0" rIns="0" bIns="0"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TASK 2 — IDEMPOTENCY &amp; DATA CLEANSE</a:t>
            </a:r>
            <a:endParaRPr lang="en-US" sz="1200" dirty="0"/>
          </a:p>
        </p:txBody>
      </p:sp>
      <p:sp>
        <p:nvSpPr>
          <p:cNvPr id="4" name="Text 1"/>
          <p:cNvSpPr txBox="1"/>
          <p:nvPr/>
        </p:nvSpPr>
        <p:spPr>
          <a:xfrm>
            <a:off x="548640" y="658368"/>
            <a:ext cx="110642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รัน DAG ซ้ำกี่ครั้ง ข้อมูลก็ไม่ซ้ำซ้อน</a:t>
            </a:r>
            <a:endParaRPr lang="en-US" sz="3000" dirty="0"/>
          </a:p>
        </p:txBody>
      </p:sp>
      <p:sp>
        <p:nvSpPr>
          <p:cNvPr id="5" name="Shape 2"/>
          <p:cNvSpPr/>
          <p:nvPr/>
        </p:nvSpPr>
        <p:spPr>
          <a:xfrm>
            <a:off x="548640" y="1645920"/>
            <a:ext cx="6309360" cy="3200400"/>
          </a:xfrm>
          <a:prstGeom prst="roundRect">
            <a:avLst>
              <a:gd name="adj" fmla="val 2286"/>
            </a:avLst>
          </a:prstGeom>
          <a:solidFill>
            <a:srgbClr val="1A1F3D"/>
          </a:solidFill>
          <a:ln/>
        </p:spPr>
      </p:sp>
      <p:sp>
        <p:nvSpPr>
          <p:cNvPr id="6" name="Text 3"/>
          <p:cNvSpPr txBox="1"/>
          <p:nvPr/>
        </p:nvSpPr>
        <p:spPr>
          <a:xfrm>
            <a:off x="822960" y="1874520"/>
            <a:ext cx="5760720" cy="2743200"/>
          </a:xfrm>
          <a:prstGeom prst="rect">
            <a:avLst/>
          </a:prstGeom>
          <a:noFill/>
          <a:ln/>
        </p:spPr>
        <p:txBody>
          <a:bodyPr wrap="square" lIns="0" tIns="0" rIns="0" bIns="0" rtlCol="0" anchor="ctr"/>
          <a:lstStyle/>
          <a:p>
            <a:pPr indent="0" marL="0">
              <a:lnSpc>
                <a:spcPts val="2000"/>
              </a:lnSpc>
              <a:buNone/>
            </a:pPr>
            <a:r>
              <a:rPr lang="en-US" sz="1250" dirty="0">
                <a:solidFill>
                  <a:srgbClr val="CADCFC"/>
                </a:solidFill>
                <a:latin typeface="Courier New" pitchFamily="34" charset="0"/>
                <a:ea typeface="Courier New" pitchFamily="34" charset="-122"/>
                <a:cs typeface="Courier New" pitchFamily="34" charset="-120"/>
              </a:rPr>
              <a:t>INSERT INTO pos_transactions (...)
</a:t>
            </a:r>
            <a:pPr indent="0" marL="0">
              <a:lnSpc>
                <a:spcPts val="2000"/>
              </a:lnSpc>
              <a:buNone/>
            </a:pPr>
            <a:r>
              <a:rPr lang="en-US" sz="1250" dirty="0">
                <a:solidFill>
                  <a:srgbClr val="FFFFFF"/>
                </a:solidFill>
                <a:latin typeface="Courier New" pitchFamily="34" charset="0"/>
                <a:ea typeface="Courier New" pitchFamily="34" charset="-122"/>
                <a:cs typeface="Courier New" pitchFamily="34" charset="-120"/>
              </a:rPr>
              <a:t>VALUES (...)
</a:t>
            </a:r>
            <a:pPr indent="0" marL="0">
              <a:lnSpc>
                <a:spcPts val="2000"/>
              </a:lnSpc>
              <a:buNone/>
            </a:pPr>
            <a:r>
              <a:rPr lang="en-US" sz="1250" b="1" dirty="0">
                <a:solidFill>
                  <a:srgbClr val="FFD166"/>
                </a:solidFill>
                <a:latin typeface="Courier New" pitchFamily="34" charset="0"/>
                <a:ea typeface="Courier New" pitchFamily="34" charset="-122"/>
                <a:cs typeface="Courier New" pitchFamily="34" charset="-120"/>
              </a:rPr>
              <a:t>ON CONFLICT (transaction_id)
</a:t>
            </a:r>
            <a:pPr indent="0" marL="0">
              <a:lnSpc>
                <a:spcPts val="2000"/>
              </a:lnSpc>
              <a:buNone/>
            </a:pPr>
            <a:r>
              <a:rPr lang="en-US" sz="1250" b="1" dirty="0">
                <a:solidFill>
                  <a:srgbClr val="FFD166"/>
                </a:solidFill>
                <a:latin typeface="Courier New" pitchFamily="34" charset="0"/>
                <a:ea typeface="Courier New" pitchFamily="34" charset="-122"/>
                <a:cs typeface="Courier New" pitchFamily="34" charset="-120"/>
              </a:rPr>
              <a:t>DO UPDATE SET
</a:t>
            </a:r>
            <a:pPr indent="0" marL="0">
              <a:lnSpc>
                <a:spcPts val="2000"/>
              </a:lnSpc>
              <a:buNone/>
            </a:pPr>
            <a:r>
              <a:rPr lang="en-US" sz="1250" dirty="0">
                <a:solidFill>
                  <a:srgbClr val="FFFFFF"/>
                </a:solidFill>
                <a:latin typeface="Courier New" pitchFamily="34" charset="0"/>
                <a:ea typeface="Courier New" pitchFamily="34" charset="-122"/>
                <a:cs typeface="Courier New" pitchFamily="34" charset="-120"/>
              </a:rPr>
              <a:t>    total_amount = EXCLUDED.total_amount,
    is_anomaly    = EXCLUDED.is_anomaly,
    updated_at    = now()
</a:t>
            </a:r>
            <a:pPr indent="0" marL="0">
              <a:lnSpc>
                <a:spcPts val="2000"/>
              </a:lnSpc>
              <a:buNone/>
            </a:pPr>
            <a:r>
              <a:rPr lang="en-US" sz="1250" dirty="0">
                <a:solidFill>
                  <a:srgbClr val="CADCFC"/>
                </a:solidFill>
                <a:latin typeface="Courier New" pitchFamily="34" charset="0"/>
                <a:ea typeface="Courier New" pitchFamily="34" charset="-122"/>
                <a:cs typeface="Courier New" pitchFamily="34" charset="-120"/>
              </a:rPr>
              <a:t>RETURNING (xmax = 0) AS was_insert;</a:t>
            </a:r>
            <a:endParaRPr lang="en-US" sz="1250" dirty="0"/>
          </a:p>
        </p:txBody>
      </p:sp>
      <p:sp>
        <p:nvSpPr>
          <p:cNvPr id="7" name="Shape 4"/>
          <p:cNvSpPr/>
          <p:nvPr/>
        </p:nvSpPr>
        <p:spPr>
          <a:xfrm>
            <a:off x="7086600" y="1645920"/>
            <a:ext cx="4526280" cy="1463040"/>
          </a:xfrm>
          <a:prstGeom prst="roundRect">
            <a:avLst>
              <a:gd name="adj" fmla="val 5000"/>
            </a:avLst>
          </a:prstGeom>
          <a:solidFill>
            <a:srgbClr val="F3F5FB"/>
          </a:solidFill>
          <a:ln/>
        </p:spPr>
      </p:sp>
      <p:sp>
        <p:nvSpPr>
          <p:cNvPr id="8" name="Text 5"/>
          <p:cNvSpPr txBox="1"/>
          <p:nvPr/>
        </p:nvSpPr>
        <p:spPr>
          <a:xfrm>
            <a:off x="7269480" y="1783080"/>
            <a:ext cx="4160520" cy="36576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ผลทดสอบจริง (reprocess ไฟล์เดิมซ้ำ 2 ครั้ง)</a:t>
            </a:r>
            <a:endParaRPr lang="en-US" sz="1200" dirty="0"/>
          </a:p>
        </p:txBody>
      </p:sp>
      <p:sp>
        <p:nvSpPr>
          <p:cNvPr id="9" name="Text 6"/>
          <p:cNvSpPr txBox="1"/>
          <p:nvPr/>
        </p:nvSpPr>
        <p:spPr>
          <a:xfrm>
            <a:off x="7269480" y="2148840"/>
            <a:ext cx="4160520" cy="82296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58 </a:t>
            </a:r>
            <a:pPr indent="0" marL="0">
              <a:buNone/>
            </a:pPr>
            <a:r>
              <a:rPr lang="en-US" sz="2000" dirty="0">
                <a:solidFill>
                  <a:srgbClr val="5B6472"/>
                </a:solidFill>
                <a:latin typeface="Calibri" pitchFamily="34" charset="0"/>
                <a:ea typeface="Calibri" pitchFamily="34" charset="-122"/>
                <a:cs typeface="Calibri" pitchFamily="34" charset="-120"/>
              </a:rPr>
              <a:t> → </a:t>
            </a:r>
            <a:pPr indent="0" marL="0">
              <a:buNone/>
            </a:pPr>
            <a:r>
              <a:rPr lang="en-US" sz="3000" b="1" dirty="0">
                <a:solidFill>
                  <a:srgbClr val="1E2761"/>
                </a:solidFill>
                <a:latin typeface="Calibri" pitchFamily="34" charset="0"/>
                <a:ea typeface="Calibri" pitchFamily="34" charset="-122"/>
                <a:cs typeface="Calibri" pitchFamily="34" charset="-120"/>
              </a:rPr>
              <a:t>58</a:t>
            </a:r>
            <a:pPr indent="0" marL="0">
              <a:buNone/>
            </a:pPr>
            <a:r>
              <a:rPr lang="en-US" sz="1300" dirty="0">
                <a:solidFill>
                  <a:srgbClr val="5B6472"/>
                </a:solidFill>
                <a:latin typeface="Calibri" pitchFamily="34" charset="0"/>
                <a:ea typeface="Calibri" pitchFamily="34" charset="-122"/>
                <a:cs typeface="Calibri" pitchFamily="34" charset="-120"/>
              </a:rPr>
              <a:t>  rows (ไม่เปลี่ยน)</a:t>
            </a:r>
            <a:endParaRPr lang="en-US" sz="3000" dirty="0"/>
          </a:p>
        </p:txBody>
      </p:sp>
      <p:sp>
        <p:nvSpPr>
          <p:cNvPr id="10" name="Shape 7"/>
          <p:cNvSpPr/>
          <p:nvPr/>
        </p:nvSpPr>
        <p:spPr>
          <a:xfrm>
            <a:off x="7086600" y="3291840"/>
            <a:ext cx="4526280" cy="1554480"/>
          </a:xfrm>
          <a:prstGeom prst="roundRect">
            <a:avLst>
              <a:gd name="adj" fmla="val 4706"/>
            </a:avLst>
          </a:prstGeom>
          <a:solidFill>
            <a:srgbClr val="FBEAEA"/>
          </a:solidFill>
          <a:ln/>
        </p:spPr>
      </p:sp>
      <p:sp>
        <p:nvSpPr>
          <p:cNvPr id="11" name="Text 8"/>
          <p:cNvSpPr txBox="1"/>
          <p:nvPr/>
        </p:nvSpPr>
        <p:spPr>
          <a:xfrm>
            <a:off x="7269480" y="3429000"/>
            <a:ext cx="4160520" cy="365760"/>
          </a:xfrm>
          <a:prstGeom prst="rect">
            <a:avLst/>
          </a:prstGeom>
          <a:noFill/>
          <a:ln/>
        </p:spPr>
        <p:txBody>
          <a:bodyPr wrap="square" lIns="0" tIns="0" rIns="0" bIns="0" rtlCol="0" anchor="ctr"/>
          <a:lstStyle/>
          <a:p>
            <a:pPr indent="0" marL="0">
              <a:buNone/>
            </a:pPr>
            <a:r>
              <a:rPr lang="en-US" sz="1200" b="1" dirty="0">
                <a:solidFill>
                  <a:srgbClr val="B3261E"/>
                </a:solidFill>
                <a:latin typeface="Calibri" pitchFamily="34" charset="0"/>
                <a:ea typeface="Calibri" pitchFamily="34" charset="-122"/>
                <a:cs typeface="Calibri" pitchFamily="34" charset="-120"/>
              </a:rPr>
              <a:t>Anomaly ไม่ถูกทิ้ง แต่ถูก Flag ไว้ตรวจสอบ</a:t>
            </a:r>
            <a:endParaRPr lang="en-US" sz="1200" dirty="0"/>
          </a:p>
        </p:txBody>
      </p:sp>
      <p:sp>
        <p:nvSpPr>
          <p:cNvPr id="12" name="Text 9"/>
          <p:cNvSpPr txBox="1"/>
          <p:nvPr/>
        </p:nvSpPr>
        <p:spPr>
          <a:xfrm>
            <a:off x="7269480" y="3794760"/>
            <a:ext cx="4160520" cy="1005840"/>
          </a:xfrm>
          <a:prstGeom prst="rect">
            <a:avLst/>
          </a:prstGeom>
          <a:noFill/>
          <a:ln/>
        </p:spPr>
        <p:txBody>
          <a:bodyPr wrap="square" lIns="0" tIns="0" rIns="0" bIns="0" rtlCol="0" anchor="ctr"/>
          <a:lstStyle/>
          <a:p>
            <a:pPr indent="0" marL="0">
              <a:buNone/>
            </a:pPr>
            <a:r>
              <a:rPr lang="en-US" sz="1200" dirty="0">
                <a:solidFill>
                  <a:srgbClr val="7A2E28"/>
                </a:solidFill>
                <a:latin typeface="Calibri" pitchFamily="34" charset="0"/>
                <a:ea typeface="Calibri" pitchFamily="34" charset="-122"/>
                <a:cs typeface="Calibri" pitchFamily="34" charset="-120"/>
              </a:rPr>
              <a:t>duplicate_in_batch · late_arrival · negative_total_amount</a:t>
            </a:r>
            <a:endParaRPr lang="en-US" sz="1200" dirty="0"/>
          </a:p>
          <a:p>
            <a:pPr indent="0" marL="0">
              <a:buNone/>
            </a:pPr>
            <a:r>
              <a:rPr lang="en-US" sz="1200" dirty="0">
                <a:solidFill>
                  <a:srgbClr val="7A2E28"/>
                </a:solidFill>
                <a:latin typeface="Calibri" pitchFamily="34" charset="0"/>
                <a:ea typeface="Calibri" pitchFamily="34" charset="-122"/>
                <a:cs typeface="Calibri" pitchFamily="34" charset="-120"/>
              </a:rPr>
              <a:t>บันทึกลง pos_anomalies พร้อม UNIQUE(transaction_id, anomaly_type) ป้องกัน log ซ้ำ</a:t>
            </a:r>
            <a:endParaRPr lang="en-US" sz="1200" dirty="0"/>
          </a:p>
        </p:txBody>
      </p:sp>
      <p:sp>
        <p:nvSpPr>
          <p:cNvPr id="13" name="Text 10"/>
          <p:cNvSpPr txBox="1"/>
          <p:nvPr/>
        </p:nvSpPr>
        <p:spPr>
          <a:xfrm>
            <a:off x="548640" y="6492240"/>
            <a:ext cx="8229600" cy="274320"/>
          </a:xfrm>
          <a:prstGeom prst="rect">
            <a:avLst/>
          </a:prstGeom>
          <a:noFill/>
          <a:ln/>
        </p:spPr>
        <p:txBody>
          <a:bodyPr wrap="square" lIns="0" tIns="0" rIns="0" bIns="0" rtlCol="0" anchor="ctr"/>
          <a:lstStyle/>
          <a:p>
            <a:pPr indent="0" marL="0">
              <a:buNone/>
            </a:pPr>
            <a:r>
              <a:rPr lang="en-US" sz="900" dirty="0">
                <a:solidFill>
                  <a:srgbClr val="5B6472"/>
                </a:solidFill>
                <a:latin typeface="Calibri" pitchFamily="34" charset="0"/>
                <a:ea typeface="Calibri" pitchFamily="34" charset="-122"/>
                <a:cs typeface="Calibri" pitchFamily="34" charset="-120"/>
              </a:rPr>
              <a:t>late_arrival วัดจาก file landing time (mtime) ไม่ใช่ wall-clock ขณะประมวลผล — เพื่อให้ผล deterministic ทุกครั้งที่ rerun</a:t>
            </a:r>
            <a:endParaRPr lang="en-US" sz="900" dirty="0"/>
          </a:p>
        </p:txBody>
      </p:sp>
      <p:sp>
        <p:nvSpPr>
          <p:cNvPr id="25" name="Slide Number Placeholder 0"/>
          <p:cNvSpPr>
            <a:spLocks noGrp="1"/>
          </p:cNvSpPr>
          <p:nvPr>
            <p:ph type="sldNum" sz="quarter" idx="4294967295"/>
          </p:nvPr>
        </p:nvSpPr>
        <p:spPr>
          <a:xfrm>
            <a:off x="1156716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548640" y="365760"/>
            <a:ext cx="5486400" cy="320040"/>
          </a:xfrm>
          <a:prstGeom prst="rect">
            <a:avLst/>
          </a:prstGeom>
          <a:noFill/>
          <a:ln/>
        </p:spPr>
        <p:txBody>
          <a:bodyPr wrap="square" lIns="0" tIns="0" rIns="0" bIns="0"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TASK 2 — DYNAMIC ALERTING</a:t>
            </a:r>
            <a:endParaRPr lang="en-US" sz="1200" dirty="0"/>
          </a:p>
        </p:txBody>
      </p:sp>
      <p:sp>
        <p:nvSpPr>
          <p:cNvPr id="4" name="Text 1"/>
          <p:cNvSpPr txBox="1"/>
          <p:nvPr/>
        </p:nvSpPr>
        <p:spPr>
          <a:xfrm>
            <a:off x="548640" y="658368"/>
            <a:ext cx="110642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ระบบแจ้งเตือนอัตโนมัติเมื่อพบ Anomaly</a:t>
            </a:r>
            <a:endParaRPr lang="en-US" sz="3000" dirty="0"/>
          </a:p>
        </p:txBody>
      </p:sp>
      <p:sp>
        <p:nvSpPr>
          <p:cNvPr id="5" name="Shape 2"/>
          <p:cNvSpPr/>
          <p:nvPr/>
        </p:nvSpPr>
        <p:spPr>
          <a:xfrm>
            <a:off x="548640" y="1920240"/>
            <a:ext cx="3520440" cy="1920240"/>
          </a:xfrm>
          <a:prstGeom prst="roundRect">
            <a:avLst>
              <a:gd name="adj" fmla="val 3810"/>
            </a:avLst>
          </a:prstGeom>
          <a:solidFill>
            <a:srgbClr val="F3F5FB"/>
          </a:solidFill>
          <a:ln/>
        </p:spPr>
      </p:sp>
      <p:sp>
        <p:nvSpPr>
          <p:cNvPr id="6" name="Shape 3"/>
          <p:cNvSpPr/>
          <p:nvPr/>
        </p:nvSpPr>
        <p:spPr>
          <a:xfrm>
            <a:off x="777240" y="2148840"/>
            <a:ext cx="457200" cy="457200"/>
          </a:xfrm>
          <a:prstGeom prst="ellipse">
            <a:avLst/>
          </a:prstGeom>
          <a:solidFill>
            <a:srgbClr val="1E2761"/>
          </a:solidFill>
          <a:ln/>
        </p:spPr>
      </p:sp>
      <p:sp>
        <p:nvSpPr>
          <p:cNvPr id="7" name="Text 4"/>
          <p:cNvSpPr txBox="1"/>
          <p:nvPr/>
        </p:nvSpPr>
        <p:spPr>
          <a:xfrm>
            <a:off x="777240" y="21488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777240" y="2743200"/>
            <a:ext cx="3063240" cy="41148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load_to_postgres</a:t>
            </a:r>
            <a:endParaRPr lang="en-US" sz="1400" dirty="0"/>
          </a:p>
        </p:txBody>
      </p:sp>
      <p:sp>
        <p:nvSpPr>
          <p:cNvPr id="9" name="Text 6"/>
          <p:cNvSpPr txBox="1"/>
          <p:nvPr/>
        </p:nvSpPr>
        <p:spPr>
          <a:xfrm>
            <a:off x="777240" y="3154680"/>
            <a:ext cx="3063240" cy="59436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นับจำนวน anomaly ที่พบในแต่ละ batch ผ่าน XCom summary</a:t>
            </a:r>
            <a:endParaRPr lang="en-US" sz="1150" dirty="0"/>
          </a:p>
        </p:txBody>
      </p:sp>
      <p:sp>
        <p:nvSpPr>
          <p:cNvPr id="10" name="Text 7"/>
          <p:cNvSpPr txBox="1"/>
          <p:nvPr/>
        </p:nvSpPr>
        <p:spPr>
          <a:xfrm>
            <a:off x="4069080" y="1920240"/>
            <a:ext cx="256032" cy="1920240"/>
          </a:xfrm>
          <a:prstGeom prst="rect">
            <a:avLst/>
          </a:prstGeom>
          <a:noFill/>
          <a:ln/>
        </p:spPr>
        <p:txBody>
          <a:bodyPr wrap="square" lIns="0" tIns="0" rIns="0" bIns="0" rtlCol="0" anchor="ctr"/>
          <a:lstStyle/>
          <a:p>
            <a:pPr algn="ctr" indent="0" marL="0">
              <a:buNone/>
            </a:pPr>
            <a:r>
              <a:rPr lang="en-US" sz="2000" b="1" dirty="0">
                <a:solidFill>
                  <a:srgbClr val="1E2761"/>
                </a:solidFill>
                <a:latin typeface="Calibri" pitchFamily="34" charset="0"/>
                <a:ea typeface="Calibri" pitchFamily="34" charset="-122"/>
                <a:cs typeface="Calibri" pitchFamily="34" charset="-120"/>
              </a:rPr>
              <a:t>→</a:t>
            </a:r>
            <a:endParaRPr lang="en-US" sz="2000" dirty="0"/>
          </a:p>
        </p:txBody>
      </p:sp>
      <p:sp>
        <p:nvSpPr>
          <p:cNvPr id="11" name="Shape 8"/>
          <p:cNvSpPr/>
          <p:nvPr/>
        </p:nvSpPr>
        <p:spPr>
          <a:xfrm>
            <a:off x="4325112" y="1920240"/>
            <a:ext cx="3520440" cy="1920240"/>
          </a:xfrm>
          <a:prstGeom prst="roundRect">
            <a:avLst>
              <a:gd name="adj" fmla="val 3810"/>
            </a:avLst>
          </a:prstGeom>
          <a:solidFill>
            <a:srgbClr val="F3F5FB"/>
          </a:solidFill>
          <a:ln/>
        </p:spPr>
      </p:sp>
      <p:sp>
        <p:nvSpPr>
          <p:cNvPr id="12" name="Shape 9"/>
          <p:cNvSpPr/>
          <p:nvPr/>
        </p:nvSpPr>
        <p:spPr>
          <a:xfrm>
            <a:off x="4553712" y="2148840"/>
            <a:ext cx="457200" cy="457200"/>
          </a:xfrm>
          <a:prstGeom prst="ellipse">
            <a:avLst/>
          </a:prstGeom>
          <a:solidFill>
            <a:srgbClr val="1E2761"/>
          </a:solidFill>
          <a:ln/>
        </p:spPr>
      </p:sp>
      <p:sp>
        <p:nvSpPr>
          <p:cNvPr id="13" name="Text 10"/>
          <p:cNvSpPr txBox="1"/>
          <p:nvPr/>
        </p:nvSpPr>
        <p:spPr>
          <a:xfrm>
            <a:off x="4553712" y="21488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txBox="1"/>
          <p:nvPr/>
        </p:nvSpPr>
        <p:spPr>
          <a:xfrm>
            <a:off x="4553712" y="2743200"/>
            <a:ext cx="3063240" cy="41148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check_and_alert</a:t>
            </a:r>
            <a:endParaRPr lang="en-US" sz="1400" dirty="0"/>
          </a:p>
        </p:txBody>
      </p:sp>
      <p:sp>
        <p:nvSpPr>
          <p:cNvPr id="15" name="Text 12"/>
          <p:cNvSpPr txBox="1"/>
          <p:nvPr/>
        </p:nvSpPr>
        <p:spPr>
          <a:xfrm>
            <a:off x="4553712" y="3154680"/>
            <a:ext cx="3063240" cy="59436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ตรวจสอบ anomaly_count &gt; 0 แล้วประกอบข้อความแจ้งเตือน</a:t>
            </a:r>
            <a:endParaRPr lang="en-US" sz="1150" dirty="0"/>
          </a:p>
        </p:txBody>
      </p:sp>
      <p:sp>
        <p:nvSpPr>
          <p:cNvPr id="16" name="Text 13"/>
          <p:cNvSpPr txBox="1"/>
          <p:nvPr/>
        </p:nvSpPr>
        <p:spPr>
          <a:xfrm>
            <a:off x="7845552" y="1920240"/>
            <a:ext cx="256032" cy="1920240"/>
          </a:xfrm>
          <a:prstGeom prst="rect">
            <a:avLst/>
          </a:prstGeom>
          <a:noFill/>
          <a:ln/>
        </p:spPr>
        <p:txBody>
          <a:bodyPr wrap="square" lIns="0" tIns="0" rIns="0" bIns="0" rtlCol="0" anchor="ctr"/>
          <a:lstStyle/>
          <a:p>
            <a:pPr algn="ctr" indent="0" marL="0">
              <a:buNone/>
            </a:pPr>
            <a:r>
              <a:rPr lang="en-US" sz="2000" b="1" dirty="0">
                <a:solidFill>
                  <a:srgbClr val="1E2761"/>
                </a:solidFill>
                <a:latin typeface="Calibri" pitchFamily="34" charset="0"/>
                <a:ea typeface="Calibri" pitchFamily="34" charset="-122"/>
                <a:cs typeface="Calibri" pitchFamily="34" charset="-120"/>
              </a:rPr>
              <a:t>→</a:t>
            </a:r>
            <a:endParaRPr lang="en-US" sz="2000" dirty="0"/>
          </a:p>
        </p:txBody>
      </p:sp>
      <p:sp>
        <p:nvSpPr>
          <p:cNvPr id="17" name="Shape 14"/>
          <p:cNvSpPr/>
          <p:nvPr/>
        </p:nvSpPr>
        <p:spPr>
          <a:xfrm>
            <a:off x="8101584" y="1920240"/>
            <a:ext cx="3520440" cy="1920240"/>
          </a:xfrm>
          <a:prstGeom prst="roundRect">
            <a:avLst>
              <a:gd name="adj" fmla="val 3810"/>
            </a:avLst>
          </a:prstGeom>
          <a:solidFill>
            <a:srgbClr val="F3F5FB"/>
          </a:solidFill>
          <a:ln/>
        </p:spPr>
      </p:sp>
      <p:sp>
        <p:nvSpPr>
          <p:cNvPr id="18" name="Shape 15"/>
          <p:cNvSpPr/>
          <p:nvPr/>
        </p:nvSpPr>
        <p:spPr>
          <a:xfrm>
            <a:off x="8330184" y="2148840"/>
            <a:ext cx="457200" cy="457200"/>
          </a:xfrm>
          <a:prstGeom prst="ellipse">
            <a:avLst/>
          </a:prstGeom>
          <a:solidFill>
            <a:srgbClr val="1E2761"/>
          </a:solidFill>
          <a:ln/>
        </p:spPr>
      </p:sp>
      <p:sp>
        <p:nvSpPr>
          <p:cNvPr id="19" name="Text 16"/>
          <p:cNvSpPr txBox="1"/>
          <p:nvPr/>
        </p:nvSpPr>
        <p:spPr>
          <a:xfrm>
            <a:off x="8330184" y="21488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7"/>
          <p:cNvSpPr txBox="1"/>
          <p:nvPr/>
        </p:nvSpPr>
        <p:spPr>
          <a:xfrm>
            <a:off x="8330184" y="2743200"/>
            <a:ext cx="3063240" cy="41148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Webhook Dispatch</a:t>
            </a:r>
            <a:endParaRPr lang="en-US" sz="1400" dirty="0"/>
          </a:p>
        </p:txBody>
      </p:sp>
      <p:sp>
        <p:nvSpPr>
          <p:cNvPr id="21" name="Text 18"/>
          <p:cNvSpPr txBox="1"/>
          <p:nvPr/>
        </p:nvSpPr>
        <p:spPr>
          <a:xfrm>
            <a:off x="8330184" y="3154680"/>
            <a:ext cx="3063240" cy="59436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ส่งผ่าน Telegram Bot API หรือ Slack Incoming Webhook</a:t>
            </a:r>
            <a:endParaRPr lang="en-US" sz="1150" dirty="0"/>
          </a:p>
        </p:txBody>
      </p:sp>
      <p:sp>
        <p:nvSpPr>
          <p:cNvPr id="22" name="Text 19"/>
          <p:cNvSpPr txBox="1"/>
          <p:nvPr/>
        </p:nvSpPr>
        <p:spPr>
          <a:xfrm>
            <a:off x="11622024" y="1920240"/>
            <a:ext cx="256032" cy="1920240"/>
          </a:xfrm>
          <a:prstGeom prst="rect">
            <a:avLst/>
          </a:prstGeom>
          <a:noFill/>
          <a:ln/>
        </p:spPr>
        <p:txBody>
          <a:bodyPr wrap="square" lIns="0" tIns="0" rIns="0" bIns="0" rtlCol="0" anchor="ctr"/>
          <a:lstStyle/>
          <a:p>
            <a:pPr algn="ctr" indent="0" marL="0">
              <a:buNone/>
            </a:pPr>
            <a:r>
              <a:rPr lang="en-US" sz="2000" b="1" dirty="0">
                <a:solidFill>
                  <a:srgbClr val="1E2761"/>
                </a:solidFill>
                <a:latin typeface="Calibri" pitchFamily="34" charset="0"/>
                <a:ea typeface="Calibri" pitchFamily="34" charset="-122"/>
                <a:cs typeface="Calibri" pitchFamily="34" charset="-120"/>
              </a:rPr>
              <a:t>→</a:t>
            </a:r>
            <a:endParaRPr lang="en-US" sz="2000" dirty="0"/>
          </a:p>
        </p:txBody>
      </p:sp>
      <p:sp>
        <p:nvSpPr>
          <p:cNvPr id="23" name="Shape 20"/>
          <p:cNvSpPr/>
          <p:nvPr/>
        </p:nvSpPr>
        <p:spPr>
          <a:xfrm>
            <a:off x="548640" y="4160520"/>
            <a:ext cx="11064240" cy="1325880"/>
          </a:xfrm>
          <a:prstGeom prst="roundRect">
            <a:avLst>
              <a:gd name="adj" fmla="val 5517"/>
            </a:avLst>
          </a:prstGeom>
          <a:solidFill>
            <a:srgbClr val="1A1F3D"/>
          </a:solidFill>
          <a:ln/>
        </p:spPr>
      </p:sp>
      <p:sp>
        <p:nvSpPr>
          <p:cNvPr id="24" name="Text 21"/>
          <p:cNvSpPr txBox="1"/>
          <p:nvPr/>
        </p:nvSpPr>
        <p:spPr>
          <a:xfrm>
            <a:off x="822960" y="4343400"/>
            <a:ext cx="10515600" cy="1005840"/>
          </a:xfrm>
          <a:prstGeom prst="rect">
            <a:avLst/>
          </a:prstGeom>
          <a:noFill/>
          <a:ln/>
        </p:spPr>
        <p:txBody>
          <a:bodyPr wrap="square" lIns="0" tIns="0" rIns="0" bIns="0" rtlCol="0" anchor="ctr"/>
          <a:lstStyle/>
          <a:p>
            <a:pPr indent="0" marL="0">
              <a:lnSpc>
                <a:spcPts val="2000"/>
              </a:lnSpc>
              <a:buNone/>
            </a:pPr>
            <a:r>
              <a:rPr lang="en-US" sz="1200" b="1" dirty="0">
                <a:solidFill>
                  <a:srgbClr val="FFD166"/>
                </a:solidFill>
                <a:latin typeface="Courier New" pitchFamily="34" charset="0"/>
                <a:ea typeface="Courier New" pitchFamily="34" charset="-122"/>
                <a:cs typeface="Courier New" pitchFamily="34" charset="-120"/>
              </a:rPr>
              <a:t>POS anomaly alert: </a:t>
            </a:r>
            <a:pPr indent="0" marL="0">
              <a:lnSpc>
                <a:spcPts val="2000"/>
              </a:lnSpc>
              <a:buNone/>
            </a:pPr>
            <a:r>
              <a:rPr lang="en-US" sz="1200" dirty="0">
                <a:solidFill>
                  <a:srgbClr val="FFFFFF"/>
                </a:solidFill>
                <a:latin typeface="Courier New" pitchFamily="34" charset="0"/>
                <a:ea typeface="Courier New" pitchFamily="34" charset="-122"/>
                <a:cs typeface="Courier New" pitchFamily="34" charset="-120"/>
              </a:rPr>
              <a:t>6 anomalous transaction(s) out of 30 in this batch (24 new, 6 reloaded).
</a:t>
            </a:r>
            <a:pPr indent="0" marL="0">
              <a:lnSpc>
                <a:spcPts val="2000"/>
              </a:lnSpc>
              <a:buNone/>
            </a:pPr>
            <a:r>
              <a:rPr lang="en-US" sz="1200" i="1" dirty="0">
                <a:solidFill>
                  <a:srgbClr val="CADCFC"/>
                </a:solidFill>
                <a:latin typeface="Courier New" pitchFamily="34" charset="0"/>
                <a:ea typeface="Courier New" pitchFamily="34" charset="-122"/>
                <a:cs typeface="Courier New" pitchFamily="34" charset="-120"/>
              </a:rPr>
              <a:t># ไม่มี BOT token → ระบบ log ข้อความเดียวกันแบบ dry-run โดยไม่ทำให้ DAG fail</a:t>
            </a:r>
            <a:endParaRPr lang="en-US" sz="1200" dirty="0"/>
          </a:p>
        </p:txBody>
      </p:sp>
      <p:sp>
        <p:nvSpPr>
          <p:cNvPr id="25" name="Slide Number Placeholder 0"/>
          <p:cNvSpPr>
            <a:spLocks noGrp="1"/>
          </p:cNvSpPr>
          <p:nvPr>
            <p:ph type="sldNum" sz="quarter" idx="4294967295"/>
          </p:nvPr>
        </p:nvSpPr>
        <p:spPr>
          <a:xfrm>
            <a:off x="1156716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txBox="1"/>
          <p:nvPr/>
        </p:nvSpPr>
        <p:spPr>
          <a:xfrm>
            <a:off x="548640" y="365760"/>
            <a:ext cx="5486400" cy="320040"/>
          </a:xfrm>
          <a:prstGeom prst="rect">
            <a:avLst/>
          </a:prstGeom>
          <a:noFill/>
          <a:ln/>
        </p:spPr>
        <p:txBody>
          <a:bodyPr wrap="square" lIns="0" tIns="0" rIns="0" bIns="0"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TASK 3</a:t>
            </a:r>
            <a:endParaRPr lang="en-US" sz="1200" dirty="0"/>
          </a:p>
        </p:txBody>
      </p:sp>
      <p:sp>
        <p:nvSpPr>
          <p:cNvPr id="4" name="Text 1"/>
          <p:cNvSpPr txBox="1"/>
          <p:nvPr/>
        </p:nvSpPr>
        <p:spPr>
          <a:xfrm>
            <a:off x="548640" y="658368"/>
            <a:ext cx="110642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Live Analytics Dashboard (Streamlit)</a:t>
            </a:r>
            <a:endParaRPr lang="en-US" sz="3000" dirty="0"/>
          </a:p>
        </p:txBody>
      </p:sp>
      <p:graphicFrame>
        <p:nvGraphicFramePr>
          <p:cNvPr id="5" name="Chart 0" descr=""/>
          <p:cNvGraphicFramePr/>
          <p:nvPr/>
        </p:nvGraphicFramePr>
        <p:xfrm>
          <a:off x="548640" y="1508760"/>
          <a:ext cx="6949440" cy="320040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548640" y="4800600"/>
            <a:ext cx="6949440" cy="64008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Dashboard คำนวณ Moving Average ซ้อนทับกราฟยอดขาย และไฮไลต์แถวที่เป็น Anomaly ด้วยสีแดงในตาราง Transaction</a:t>
            </a:r>
            <a:endParaRPr lang="en-US" sz="1200" dirty="0"/>
          </a:p>
        </p:txBody>
      </p:sp>
      <p:sp>
        <p:nvSpPr>
          <p:cNvPr id="7" name="Shape 3"/>
          <p:cNvSpPr/>
          <p:nvPr/>
        </p:nvSpPr>
        <p:spPr>
          <a:xfrm>
            <a:off x="7772400" y="1554480"/>
            <a:ext cx="3840480" cy="960120"/>
          </a:xfrm>
          <a:prstGeom prst="roundRect">
            <a:avLst>
              <a:gd name="adj" fmla="val 7619"/>
            </a:avLst>
          </a:prstGeom>
          <a:solidFill>
            <a:srgbClr val="F3F5FB"/>
          </a:solidFill>
          <a:ln/>
        </p:spPr>
      </p:sp>
      <p:sp>
        <p:nvSpPr>
          <p:cNvPr id="8" name="Text 4"/>
          <p:cNvSpPr txBox="1"/>
          <p:nvPr/>
        </p:nvSpPr>
        <p:spPr>
          <a:xfrm>
            <a:off x="7955280" y="1554480"/>
            <a:ext cx="1554480" cy="96012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542</a:t>
            </a:r>
            <a:endParaRPr lang="en-US" sz="2600" dirty="0"/>
          </a:p>
        </p:txBody>
      </p:sp>
      <p:sp>
        <p:nvSpPr>
          <p:cNvPr id="9" name="Text 5"/>
          <p:cNvSpPr txBox="1"/>
          <p:nvPr/>
        </p:nvSpPr>
        <p:spPr>
          <a:xfrm>
            <a:off x="9509760" y="1554480"/>
            <a:ext cx="1965960" cy="96012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Transactions Loaded</a:t>
            </a:r>
            <a:endParaRPr lang="en-US" sz="1150" dirty="0"/>
          </a:p>
        </p:txBody>
      </p:sp>
      <p:sp>
        <p:nvSpPr>
          <p:cNvPr id="10" name="Shape 6"/>
          <p:cNvSpPr/>
          <p:nvPr/>
        </p:nvSpPr>
        <p:spPr>
          <a:xfrm>
            <a:off x="7772400" y="2697480"/>
            <a:ext cx="3840480" cy="960120"/>
          </a:xfrm>
          <a:prstGeom prst="roundRect">
            <a:avLst>
              <a:gd name="adj" fmla="val 7619"/>
            </a:avLst>
          </a:prstGeom>
          <a:solidFill>
            <a:srgbClr val="F3F5FB"/>
          </a:solidFill>
          <a:ln/>
        </p:spPr>
      </p:sp>
      <p:sp>
        <p:nvSpPr>
          <p:cNvPr id="11" name="Text 7"/>
          <p:cNvSpPr txBox="1"/>
          <p:nvPr/>
        </p:nvSpPr>
        <p:spPr>
          <a:xfrm>
            <a:off x="7955280" y="2697480"/>
            <a:ext cx="1554480" cy="96012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58</a:t>
            </a:r>
            <a:endParaRPr lang="en-US" sz="2600" dirty="0"/>
          </a:p>
        </p:txBody>
      </p:sp>
      <p:sp>
        <p:nvSpPr>
          <p:cNvPr id="12" name="Text 8"/>
          <p:cNvSpPr txBox="1"/>
          <p:nvPr/>
        </p:nvSpPr>
        <p:spPr>
          <a:xfrm>
            <a:off x="9509760" y="2697480"/>
            <a:ext cx="1965960" cy="96012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Flagged Anomalies</a:t>
            </a:r>
            <a:endParaRPr lang="en-US" sz="1150" dirty="0"/>
          </a:p>
        </p:txBody>
      </p:sp>
      <p:sp>
        <p:nvSpPr>
          <p:cNvPr id="13" name="Shape 9"/>
          <p:cNvSpPr/>
          <p:nvPr/>
        </p:nvSpPr>
        <p:spPr>
          <a:xfrm>
            <a:off x="7772400" y="3840480"/>
            <a:ext cx="3840480" cy="960120"/>
          </a:xfrm>
          <a:prstGeom prst="roundRect">
            <a:avLst>
              <a:gd name="adj" fmla="val 7619"/>
            </a:avLst>
          </a:prstGeom>
          <a:solidFill>
            <a:srgbClr val="F3F5FB"/>
          </a:solidFill>
          <a:ln/>
        </p:spPr>
      </p:sp>
      <p:sp>
        <p:nvSpPr>
          <p:cNvPr id="14" name="Text 10"/>
          <p:cNvSpPr txBox="1"/>
          <p:nvPr/>
        </p:nvSpPr>
        <p:spPr>
          <a:xfrm>
            <a:off x="7955280" y="3840480"/>
            <a:ext cx="1554480" cy="96012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10.7%</a:t>
            </a:r>
            <a:endParaRPr lang="en-US" sz="2600" dirty="0"/>
          </a:p>
        </p:txBody>
      </p:sp>
      <p:sp>
        <p:nvSpPr>
          <p:cNvPr id="15" name="Text 11"/>
          <p:cNvSpPr txBox="1"/>
          <p:nvPr/>
        </p:nvSpPr>
        <p:spPr>
          <a:xfrm>
            <a:off x="9509760" y="3840480"/>
            <a:ext cx="1965960" cy="96012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Anomaly Rate</a:t>
            </a:r>
            <a:endParaRPr lang="en-US" sz="1150" dirty="0"/>
          </a:p>
        </p:txBody>
      </p:sp>
      <p:sp>
        <p:nvSpPr>
          <p:cNvPr id="25" name="Slide Number Placeholder 0"/>
          <p:cNvSpPr>
            <a:spLocks noGrp="1"/>
          </p:cNvSpPr>
          <p:nvPr>
            <p:ph type="sldNum" sz="quarter" idx="4294967295"/>
          </p:nvPr>
        </p:nvSpPr>
        <p:spPr>
          <a:xfrm>
            <a:off x="1156716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txBox="1"/>
          <p:nvPr/>
        </p:nvSpPr>
        <p:spPr>
          <a:xfrm>
            <a:off x="548640" y="365760"/>
            <a:ext cx="5486400" cy="320040"/>
          </a:xfrm>
          <a:prstGeom prst="rect">
            <a:avLst/>
          </a:prstGeom>
          <a:noFill/>
          <a:ln/>
        </p:spPr>
        <p:txBody>
          <a:bodyPr wrap="square" lIns="0" tIns="0" rIns="0" bIns="0"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TASK 3 — SECURE DEPLOYMENT</a:t>
            </a:r>
            <a:endParaRPr lang="en-US" sz="1200" dirty="0"/>
          </a:p>
        </p:txBody>
      </p:sp>
      <p:sp>
        <p:nvSpPr>
          <p:cNvPr id="4" name="Text 1"/>
          <p:cNvSpPr txBox="1"/>
          <p:nvPr/>
        </p:nvSpPr>
        <p:spPr>
          <a:xfrm>
            <a:off x="548640" y="658368"/>
            <a:ext cx="110642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การเปิดใช้งาน Dashboard ผ่าน HTTPS Domain</a:t>
            </a:r>
            <a:endParaRPr lang="en-US" sz="3000" dirty="0"/>
          </a:p>
        </p:txBody>
      </p:sp>
      <p:sp>
        <p:nvSpPr>
          <p:cNvPr id="5" name="Shape 2"/>
          <p:cNvSpPr/>
          <p:nvPr/>
        </p:nvSpPr>
        <p:spPr>
          <a:xfrm>
            <a:off x="548640" y="1691640"/>
            <a:ext cx="11064240" cy="914400"/>
          </a:xfrm>
          <a:prstGeom prst="roundRect">
            <a:avLst>
              <a:gd name="adj" fmla="val 8000"/>
            </a:avLst>
          </a:prstGeom>
          <a:solidFill>
            <a:srgbClr val="F3F5FB"/>
          </a:solidFill>
          <a:ln/>
        </p:spPr>
      </p:sp>
      <p:sp>
        <p:nvSpPr>
          <p:cNvPr id="6" name="Shape 3"/>
          <p:cNvSpPr/>
          <p:nvPr/>
        </p:nvSpPr>
        <p:spPr>
          <a:xfrm>
            <a:off x="822960" y="1920240"/>
            <a:ext cx="457200" cy="457200"/>
          </a:xfrm>
          <a:prstGeom prst="ellipse">
            <a:avLst/>
          </a:prstGeom>
          <a:solidFill>
            <a:srgbClr val="1E2761"/>
          </a:solidFill>
          <a:ln/>
        </p:spPr>
      </p:sp>
      <p:sp>
        <p:nvSpPr>
          <p:cNvPr id="7" name="Text 4"/>
          <p:cNvSpPr txBox="1"/>
          <p:nvPr/>
        </p:nvSpPr>
        <p:spPr>
          <a:xfrm>
            <a:off x="822960" y="1920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8" name="Text 5"/>
          <p:cNvSpPr txBox="1"/>
          <p:nvPr/>
        </p:nvSpPr>
        <p:spPr>
          <a:xfrm>
            <a:off x="1508760" y="1764792"/>
            <a:ext cx="3657600" cy="7772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Dashboard Code</a:t>
            </a:r>
            <a:endParaRPr lang="en-US" sz="1400" dirty="0"/>
          </a:p>
        </p:txBody>
      </p:sp>
      <p:sp>
        <p:nvSpPr>
          <p:cNvPr id="9" name="Text 6"/>
          <p:cNvSpPr txBox="1"/>
          <p:nvPr/>
        </p:nvSpPr>
        <p:spPr>
          <a:xfrm>
            <a:off x="5257800" y="1764792"/>
            <a:ext cx="4206240" cy="77724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dashboard/app.py พร้อม requirements.txt</a:t>
            </a:r>
            <a:endParaRPr lang="en-US" sz="1150" dirty="0"/>
          </a:p>
        </p:txBody>
      </p:sp>
      <p:sp>
        <p:nvSpPr>
          <p:cNvPr id="10" name="Text 7"/>
          <p:cNvSpPr txBox="1"/>
          <p:nvPr/>
        </p:nvSpPr>
        <p:spPr>
          <a:xfrm>
            <a:off x="9555480" y="1764792"/>
            <a:ext cx="1965960" cy="7772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เสร็จสมบูรณ์</a:t>
            </a:r>
            <a:endParaRPr lang="en-US" sz="1150" dirty="0"/>
          </a:p>
        </p:txBody>
      </p:sp>
      <p:sp>
        <p:nvSpPr>
          <p:cNvPr id="11" name="Shape 8"/>
          <p:cNvSpPr/>
          <p:nvPr/>
        </p:nvSpPr>
        <p:spPr>
          <a:xfrm>
            <a:off x="548640" y="2770632"/>
            <a:ext cx="11064240" cy="914400"/>
          </a:xfrm>
          <a:prstGeom prst="roundRect">
            <a:avLst>
              <a:gd name="adj" fmla="val 8000"/>
            </a:avLst>
          </a:prstGeom>
          <a:solidFill>
            <a:srgbClr val="F3F5FB"/>
          </a:solidFill>
          <a:ln/>
        </p:spPr>
      </p:sp>
      <p:sp>
        <p:nvSpPr>
          <p:cNvPr id="12" name="Shape 9"/>
          <p:cNvSpPr/>
          <p:nvPr/>
        </p:nvSpPr>
        <p:spPr>
          <a:xfrm>
            <a:off x="822960" y="2999232"/>
            <a:ext cx="457200" cy="457200"/>
          </a:xfrm>
          <a:prstGeom prst="ellipse">
            <a:avLst/>
          </a:prstGeom>
          <a:solidFill>
            <a:srgbClr val="1E2761"/>
          </a:solidFill>
          <a:ln/>
        </p:spPr>
      </p:sp>
      <p:sp>
        <p:nvSpPr>
          <p:cNvPr id="13" name="Text 10"/>
          <p:cNvSpPr txBox="1"/>
          <p:nvPr/>
        </p:nvSpPr>
        <p:spPr>
          <a:xfrm>
            <a:off x="822960" y="299923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4" name="Text 11"/>
          <p:cNvSpPr txBox="1"/>
          <p:nvPr/>
        </p:nvSpPr>
        <p:spPr>
          <a:xfrm>
            <a:off x="1508760" y="2843784"/>
            <a:ext cx="3657600" cy="7772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Public Database</a:t>
            </a:r>
            <a:endParaRPr lang="en-US" sz="1400" dirty="0"/>
          </a:p>
        </p:txBody>
      </p:sp>
      <p:sp>
        <p:nvSpPr>
          <p:cNvPr id="15" name="Text 12"/>
          <p:cNvSpPr txBox="1"/>
          <p:nvPr/>
        </p:nvSpPr>
        <p:spPr>
          <a:xfrm>
            <a:off x="5257800" y="2843784"/>
            <a:ext cx="4206240" cy="77724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PostgreSQL บน Neon (Serverless) — migrate ข้อมูลจริง 542 แถว</a:t>
            </a:r>
            <a:endParaRPr lang="en-US" sz="1150" dirty="0"/>
          </a:p>
        </p:txBody>
      </p:sp>
      <p:sp>
        <p:nvSpPr>
          <p:cNvPr id="16" name="Text 13"/>
          <p:cNvSpPr txBox="1"/>
          <p:nvPr/>
        </p:nvSpPr>
        <p:spPr>
          <a:xfrm>
            <a:off x="9555480" y="2843784"/>
            <a:ext cx="1965960" cy="7772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เสร็จสมบูรณ์</a:t>
            </a:r>
            <a:endParaRPr lang="en-US" sz="1150" dirty="0"/>
          </a:p>
        </p:txBody>
      </p:sp>
      <p:sp>
        <p:nvSpPr>
          <p:cNvPr id="17" name="Shape 14"/>
          <p:cNvSpPr/>
          <p:nvPr/>
        </p:nvSpPr>
        <p:spPr>
          <a:xfrm>
            <a:off x="548640" y="3849624"/>
            <a:ext cx="11064240" cy="914400"/>
          </a:xfrm>
          <a:prstGeom prst="roundRect">
            <a:avLst>
              <a:gd name="adj" fmla="val 8000"/>
            </a:avLst>
          </a:prstGeom>
          <a:solidFill>
            <a:srgbClr val="F3F5FB"/>
          </a:solidFill>
          <a:ln/>
        </p:spPr>
      </p:sp>
      <p:sp>
        <p:nvSpPr>
          <p:cNvPr id="18" name="Shape 15"/>
          <p:cNvSpPr/>
          <p:nvPr/>
        </p:nvSpPr>
        <p:spPr>
          <a:xfrm>
            <a:off x="822960" y="4078224"/>
            <a:ext cx="457200" cy="457200"/>
          </a:xfrm>
          <a:prstGeom prst="ellipse">
            <a:avLst/>
          </a:prstGeom>
          <a:solidFill>
            <a:srgbClr val="1E2761"/>
          </a:solidFill>
          <a:ln/>
        </p:spPr>
      </p:sp>
      <p:sp>
        <p:nvSpPr>
          <p:cNvPr id="19" name="Text 16"/>
          <p:cNvSpPr txBox="1"/>
          <p:nvPr/>
        </p:nvSpPr>
        <p:spPr>
          <a:xfrm>
            <a:off x="822960" y="407822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20" name="Text 17"/>
          <p:cNvSpPr txBox="1"/>
          <p:nvPr/>
        </p:nvSpPr>
        <p:spPr>
          <a:xfrm>
            <a:off x="1508760" y="3922776"/>
            <a:ext cx="3657600" cy="7772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Public HTTPS Deploy</a:t>
            </a:r>
            <a:endParaRPr lang="en-US" sz="1400" dirty="0"/>
          </a:p>
        </p:txBody>
      </p:sp>
      <p:sp>
        <p:nvSpPr>
          <p:cNvPr id="21" name="Text 18"/>
          <p:cNvSpPr txBox="1"/>
          <p:nvPr/>
        </p:nvSpPr>
        <p:spPr>
          <a:xfrm>
            <a:off x="5257800" y="3922776"/>
            <a:ext cx="4206240" cy="77724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Streamlit Community Cloud เชื่อมกับ GitHub Repo</a:t>
            </a:r>
            <a:endParaRPr lang="en-US" sz="1150" dirty="0"/>
          </a:p>
        </p:txBody>
      </p:sp>
      <p:sp>
        <p:nvSpPr>
          <p:cNvPr id="22" name="Text 19"/>
          <p:cNvSpPr txBox="1"/>
          <p:nvPr/>
        </p:nvSpPr>
        <p:spPr>
          <a:xfrm>
            <a:off x="9555480" y="3922776"/>
            <a:ext cx="1965960" cy="7772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เสร็จสมบูรณ์ — Live</a:t>
            </a:r>
            <a:endParaRPr lang="en-US" sz="1150" dirty="0"/>
          </a:p>
        </p:txBody>
      </p:sp>
      <p:sp>
        <p:nvSpPr>
          <p:cNvPr id="23" name="Shape 20"/>
          <p:cNvSpPr/>
          <p:nvPr/>
        </p:nvSpPr>
        <p:spPr>
          <a:xfrm>
            <a:off x="548640" y="4892040"/>
            <a:ext cx="11064240" cy="1097280"/>
          </a:xfrm>
          <a:prstGeom prst="roundRect">
            <a:avLst>
              <a:gd name="adj" fmla="val 6667"/>
            </a:avLst>
          </a:prstGeom>
          <a:solidFill>
            <a:srgbClr val="1E2761"/>
          </a:solidFill>
          <a:ln/>
        </p:spPr>
      </p:sp>
      <p:sp>
        <p:nvSpPr>
          <p:cNvPr id="24" name="Text 21"/>
          <p:cNvSpPr txBox="1"/>
          <p:nvPr/>
        </p:nvSpPr>
        <p:spPr>
          <a:xfrm>
            <a:off x="822960" y="5029200"/>
            <a:ext cx="5486400" cy="365760"/>
          </a:xfrm>
          <a:prstGeom prst="rect">
            <a:avLst/>
          </a:prstGeom>
          <a:noFill/>
          <a:ln/>
        </p:spPr>
        <p:txBody>
          <a:bodyPr wrap="square" lIns="0" tIns="0" rIns="0" bIns="0" rtlCol="0" anchor="ctr"/>
          <a:lstStyle/>
          <a:p>
            <a:pPr indent="0" marL="0">
              <a:buNone/>
            </a:pPr>
            <a:r>
              <a:rPr lang="en-US" sz="1200" b="1" spc="150" kern="0" dirty="0">
                <a:solidFill>
                  <a:srgbClr val="CADCFC"/>
                </a:solidFill>
                <a:latin typeface="Calibri" pitchFamily="34" charset="0"/>
                <a:ea typeface="Calibri" pitchFamily="34" charset="-122"/>
                <a:cs typeface="Calibri" pitchFamily="34" charset="-120"/>
              </a:rPr>
              <a:t>LIVE DASHBOARD URL</a:t>
            </a:r>
            <a:endParaRPr lang="en-US" sz="1200" dirty="0"/>
          </a:p>
        </p:txBody>
      </p:sp>
      <p:sp>
        <p:nvSpPr>
          <p:cNvPr id="25" name="Text 22"/>
          <p:cNvSpPr txBox="1"/>
          <p:nvPr/>
        </p:nvSpPr>
        <p:spPr>
          <a:xfrm>
            <a:off x="822960" y="5349240"/>
            <a:ext cx="10515600" cy="502920"/>
          </a:xfrm>
          <a:prstGeom prst="rect">
            <a:avLst/>
          </a:prstGeom>
          <a:noFill/>
          <a:ln/>
        </p:spPr>
        <p:txBody>
          <a:bodyPr wrap="square" lIns="0" tIns="0" rIns="0" bIns="0" rtlCol="0" anchor="ctr"/>
          <a:lstStyle/>
          <a:p>
            <a:pPr indent="0" marL="0">
              <a:buNone/>
            </a:pPr>
            <a:r>
              <a:rPr lang="en-US" sz="1700" b="1" dirty="0">
                <a:solidFill>
                  <a:srgbClr val="FFFFFF"/>
                </a:solidFill>
                <a:latin typeface="Courier New" pitchFamily="34" charset="0"/>
                <a:ea typeface="Courier New" pitchFamily="34" charset="-122"/>
                <a:cs typeface="Courier New" pitchFamily="34" charset="-120"/>
              </a:rPr>
              <a:t>pos-anomaly-pipeline-duga3in95l2i7apb78xzee.streamlit.app</a:t>
            </a:r>
            <a:endParaRPr lang="en-US" sz="1700" dirty="0"/>
          </a:p>
        </p:txBody>
      </p:sp>
      <p:sp>
        <p:nvSpPr>
          <p:cNvPr id="26" name="Text 23"/>
          <p:cNvSpPr txBox="1"/>
          <p:nvPr/>
        </p:nvSpPr>
        <p:spPr>
          <a:xfrm>
            <a:off x="548640" y="6492240"/>
            <a:ext cx="8229600" cy="274320"/>
          </a:xfrm>
          <a:prstGeom prst="rect">
            <a:avLst/>
          </a:prstGeom>
          <a:noFill/>
          <a:ln/>
        </p:spPr>
        <p:txBody>
          <a:bodyPr wrap="square" lIns="0" tIns="0" rIns="0" bIns="0" rtlCol="0" anchor="ctr"/>
          <a:lstStyle/>
          <a:p>
            <a:pPr indent="0" marL="0">
              <a:buNone/>
            </a:pPr>
            <a:r>
              <a:rPr lang="en-US" sz="900" dirty="0">
                <a:solidFill>
                  <a:srgbClr val="5B6472"/>
                </a:solidFill>
                <a:latin typeface="Calibri" pitchFamily="34" charset="0"/>
                <a:ea typeface="Calibri" pitchFamily="34" charset="-122"/>
                <a:cs typeface="Calibri" pitchFamily="34" charset="-120"/>
              </a:rPr>
              <a:t>Architecture: GitHub (source) → Streamlit Community Cloud (hosting + HTTPS) → Neon PostgreSQL (public serverless DB) — ข้อมูลจาก local pipeline ถูก migrate ขึ้นจริง</a:t>
            </a:r>
            <a:endParaRPr lang="en-US" sz="900" dirty="0"/>
          </a:p>
        </p:txBody>
      </p:sp>
      <p:sp>
        <p:nvSpPr>
          <p:cNvPr id="25" name="Slide Number Placeholder 0"/>
          <p:cNvSpPr>
            <a:spLocks noGrp="1"/>
          </p:cNvSpPr>
          <p:nvPr>
            <p:ph type="sldNum" sz="quarter" idx="4294967295"/>
          </p:nvPr>
        </p:nvSpPr>
        <p:spPr>
          <a:xfrm>
            <a:off x="1156716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txBox="1"/>
          <p:nvPr/>
        </p:nvSpPr>
        <p:spPr>
          <a:xfrm>
            <a:off x="548640" y="365760"/>
            <a:ext cx="5486400" cy="320040"/>
          </a:xfrm>
          <a:prstGeom prst="rect">
            <a:avLst/>
          </a:prstGeom>
          <a:noFill/>
          <a:ln/>
        </p:spPr>
        <p:txBody>
          <a:bodyPr wrap="square" lIns="0" tIns="0" rIns="0" bIns="0"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TASK 4 — BENCHMARK METHODOLOGY</a:t>
            </a:r>
            <a:endParaRPr lang="en-US" sz="1200" dirty="0"/>
          </a:p>
        </p:txBody>
      </p:sp>
      <p:sp>
        <p:nvSpPr>
          <p:cNvPr id="4" name="Text 1"/>
          <p:cNvSpPr txBox="1"/>
          <p:nvPr/>
        </p:nvSpPr>
        <p:spPr>
          <a:xfrm>
            <a:off x="548640" y="658368"/>
            <a:ext cx="110642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วิธีการวัดผล Poke vs Reschedule vs Deferrable</a:t>
            </a:r>
            <a:endParaRPr lang="en-US" sz="3000" dirty="0"/>
          </a:p>
        </p:txBody>
      </p:sp>
      <p:sp>
        <p:nvSpPr>
          <p:cNvPr id="5" name="Text 2"/>
          <p:cNvSpPr txBox="1"/>
          <p:nvPr/>
        </p:nvSpPr>
        <p:spPr>
          <a:xfrm>
            <a:off x="548640" y="1417320"/>
            <a:ext cx="11064240" cy="457200"/>
          </a:xfrm>
          <a:prstGeom prst="rect">
            <a:avLst/>
          </a:prstGeom>
          <a:noFill/>
          <a:ln/>
        </p:spPr>
        <p:txBody>
          <a:bodyPr wrap="square" lIns="0" tIns="0" rIns="0" bIns="0" rtlCol="0" anchor="ctr"/>
          <a:lstStyle/>
          <a:p>
            <a:pPr indent="0" marL="0">
              <a:buNone/>
            </a:pPr>
            <a:r>
              <a:rPr lang="en-US" sz="1350" dirty="0">
                <a:solidFill>
                  <a:srgbClr val="5B6472"/>
                </a:solidFill>
                <a:latin typeface="Calibri" pitchFamily="34" charset="0"/>
                <a:ea typeface="Calibri" pitchFamily="34" charset="-122"/>
                <a:cs typeface="Calibri" pitchFamily="34" charset="-120"/>
              </a:rPr>
              <a:t>dags/sensor_benchmark_dags.py — สร้าง 3 DAG ที่เหมือนกันทุกจุด ต่างกันเฉพาะ Sensor Mode เพื่อตัดตัวแปรกวน</a:t>
            </a:r>
            <a:endParaRPr lang="en-US" sz="1350" dirty="0"/>
          </a:p>
        </p:txBody>
      </p:sp>
      <p:sp>
        <p:nvSpPr>
          <p:cNvPr id="6" name="Shape 3"/>
          <p:cNvSpPr/>
          <p:nvPr/>
        </p:nvSpPr>
        <p:spPr>
          <a:xfrm>
            <a:off x="548640" y="2240280"/>
            <a:ext cx="402336" cy="402336"/>
          </a:xfrm>
          <a:prstGeom prst="ellipse">
            <a:avLst/>
          </a:prstGeom>
          <a:solidFill>
            <a:srgbClr val="1E2761"/>
          </a:solidFill>
          <a:ln/>
        </p:spPr>
      </p:sp>
      <p:sp>
        <p:nvSpPr>
          <p:cNvPr id="7" name="Text 4"/>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1143000" y="2194560"/>
            <a:ext cx="10424160" cy="548640"/>
          </a:xfrm>
          <a:prstGeom prst="rect">
            <a:avLst/>
          </a:prstGeom>
          <a:noFill/>
          <a:ln/>
        </p:spPr>
        <p:txBody>
          <a:bodyPr wrap="square" lIns="0" tIns="0" rIns="0" bIns="0" rtlCol="0" anchor="ctr"/>
          <a:lstStyle/>
          <a:p>
            <a:pPr indent="0" marL="0">
              <a:buNone/>
            </a:pPr>
            <a:r>
              <a:rPr lang="en-US" sz="1350" dirty="0">
                <a:solidFill>
                  <a:srgbClr val="1E2761"/>
                </a:solidFill>
                <a:latin typeface="Calibri" pitchFamily="34" charset="0"/>
                <a:ea typeface="Calibri" pitchFamily="34" charset="-122"/>
                <a:cs typeface="Calibri" pitchFamily="34" charset="-120"/>
              </a:rPr>
              <a:t>Trigger ทั้ง 3 DAG โดยยังไม่มี trigger file (บังคับให้ sensor ต้องรอจริง)</a:t>
            </a:r>
            <a:endParaRPr lang="en-US" sz="1350" dirty="0"/>
          </a:p>
        </p:txBody>
      </p:sp>
      <p:sp>
        <p:nvSpPr>
          <p:cNvPr id="9" name="Shape 6"/>
          <p:cNvSpPr/>
          <p:nvPr/>
        </p:nvSpPr>
        <p:spPr>
          <a:xfrm>
            <a:off x="548640" y="2953512"/>
            <a:ext cx="402336" cy="402336"/>
          </a:xfrm>
          <a:prstGeom prst="ellipse">
            <a:avLst/>
          </a:prstGeom>
          <a:solidFill>
            <a:srgbClr val="1E2761"/>
          </a:solidFill>
          <a:ln/>
        </p:spPr>
      </p:sp>
      <p:sp>
        <p:nvSpPr>
          <p:cNvPr id="10" name="Text 7"/>
          <p:cNvSpPr txBox="1"/>
          <p:nvPr/>
        </p:nvSpPr>
        <p:spPr>
          <a:xfrm>
            <a:off x="548640" y="295351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8"/>
          <p:cNvSpPr txBox="1"/>
          <p:nvPr/>
        </p:nvSpPr>
        <p:spPr>
          <a:xfrm>
            <a:off x="1143000" y="2907792"/>
            <a:ext cx="10424160" cy="548640"/>
          </a:xfrm>
          <a:prstGeom prst="rect">
            <a:avLst/>
          </a:prstGeom>
          <a:noFill/>
          <a:ln/>
        </p:spPr>
        <p:txBody>
          <a:bodyPr wrap="square" lIns="0" tIns="0" rIns="0" bIns="0" rtlCol="0" anchor="ctr"/>
          <a:lstStyle/>
          <a:p>
            <a:pPr indent="0" marL="0">
              <a:buNone/>
            </a:pPr>
            <a:r>
              <a:rPr lang="en-US" sz="1350" dirty="0">
                <a:solidFill>
                  <a:srgbClr val="1E2761"/>
                </a:solidFill>
                <a:latin typeface="Calibri" pitchFamily="34" charset="0"/>
                <a:ea typeface="Calibri" pitchFamily="34" charset="-122"/>
                <a:cs typeface="Calibri" pitchFamily="34" charset="-120"/>
              </a:rPr>
              <a:t>สุ่มตัวอย่างทุก 5 วินาที เป็นเวลา 30 วินาที: Task State + docker stats (CPU/Memory) ของ scheduler และ triggerer container</a:t>
            </a:r>
            <a:endParaRPr lang="en-US" sz="1350" dirty="0"/>
          </a:p>
        </p:txBody>
      </p:sp>
      <p:sp>
        <p:nvSpPr>
          <p:cNvPr id="12" name="Shape 9"/>
          <p:cNvSpPr/>
          <p:nvPr/>
        </p:nvSpPr>
        <p:spPr>
          <a:xfrm>
            <a:off x="548640" y="3666744"/>
            <a:ext cx="402336" cy="402336"/>
          </a:xfrm>
          <a:prstGeom prst="ellipse">
            <a:avLst/>
          </a:prstGeom>
          <a:solidFill>
            <a:srgbClr val="1E2761"/>
          </a:solidFill>
          <a:ln/>
        </p:spPr>
      </p:sp>
      <p:sp>
        <p:nvSpPr>
          <p:cNvPr id="13" name="Text 10"/>
          <p:cNvSpPr txBox="1"/>
          <p:nvPr/>
        </p:nvSpPr>
        <p:spPr>
          <a:xfrm>
            <a:off x="548640" y="366674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1"/>
          <p:cNvSpPr txBox="1"/>
          <p:nvPr/>
        </p:nvSpPr>
        <p:spPr>
          <a:xfrm>
            <a:off x="1143000" y="3621024"/>
            <a:ext cx="10424160" cy="548640"/>
          </a:xfrm>
          <a:prstGeom prst="rect">
            <a:avLst/>
          </a:prstGeom>
          <a:noFill/>
          <a:ln/>
        </p:spPr>
        <p:txBody>
          <a:bodyPr wrap="square" lIns="0" tIns="0" rIns="0" bIns="0" rtlCol="0" anchor="ctr"/>
          <a:lstStyle/>
          <a:p>
            <a:pPr indent="0" marL="0">
              <a:buNone/>
            </a:pPr>
            <a:r>
              <a:rPr lang="en-US" sz="1350" dirty="0">
                <a:solidFill>
                  <a:srgbClr val="1E2761"/>
                </a:solidFill>
                <a:latin typeface="Calibri" pitchFamily="34" charset="0"/>
                <a:ea typeface="Calibri" pitchFamily="34" charset="-122"/>
                <a:cs typeface="Calibri" pitchFamily="34" charset="-120"/>
              </a:rPr>
              <a:t>วาง trigger file เพื่อปลด sensor แล้วบันทึก final DAG run state</a:t>
            </a:r>
            <a:endParaRPr lang="en-US" sz="1350" dirty="0"/>
          </a:p>
        </p:txBody>
      </p:sp>
      <p:sp>
        <p:nvSpPr>
          <p:cNvPr id="15" name="Shape 12"/>
          <p:cNvSpPr/>
          <p:nvPr/>
        </p:nvSpPr>
        <p:spPr>
          <a:xfrm>
            <a:off x="548640" y="4379976"/>
            <a:ext cx="402336" cy="402336"/>
          </a:xfrm>
          <a:prstGeom prst="ellipse">
            <a:avLst/>
          </a:prstGeom>
          <a:solidFill>
            <a:srgbClr val="1E2761"/>
          </a:solidFill>
          <a:ln/>
        </p:spPr>
      </p:sp>
      <p:sp>
        <p:nvSpPr>
          <p:cNvPr id="16" name="Text 13"/>
          <p:cNvSpPr txBox="1"/>
          <p:nvPr/>
        </p:nvSpPr>
        <p:spPr>
          <a:xfrm>
            <a:off x="548640" y="43799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7" name="Text 14"/>
          <p:cNvSpPr txBox="1"/>
          <p:nvPr/>
        </p:nvSpPr>
        <p:spPr>
          <a:xfrm>
            <a:off x="1143000" y="4334256"/>
            <a:ext cx="10424160" cy="548640"/>
          </a:xfrm>
          <a:prstGeom prst="rect">
            <a:avLst/>
          </a:prstGeom>
          <a:noFill/>
          <a:ln/>
        </p:spPr>
        <p:txBody>
          <a:bodyPr wrap="square" lIns="0" tIns="0" rIns="0" bIns="0" rtlCol="0" anchor="ctr"/>
          <a:lstStyle/>
          <a:p>
            <a:pPr indent="0" marL="0">
              <a:buNone/>
            </a:pPr>
            <a:r>
              <a:rPr lang="en-US" sz="1350" dirty="0">
                <a:solidFill>
                  <a:srgbClr val="1E2761"/>
                </a:solidFill>
                <a:latin typeface="Calibri" pitchFamily="34" charset="0"/>
                <a:ea typeface="Calibri" pitchFamily="34" charset="-122"/>
                <a:cs typeface="Calibri" pitchFamily="34" charset="-120"/>
              </a:rPr>
              <a:t>เขียนผลลง report/benchmark_results.csv สำหรับวิเคราะห์ต่อ</a:t>
            </a:r>
            <a:endParaRPr lang="en-US" sz="1350" dirty="0"/>
          </a:p>
        </p:txBody>
      </p:sp>
      <p:sp>
        <p:nvSpPr>
          <p:cNvPr id="18" name="Shape 15"/>
          <p:cNvSpPr/>
          <p:nvPr/>
        </p:nvSpPr>
        <p:spPr>
          <a:xfrm>
            <a:off x="548640" y="5257800"/>
            <a:ext cx="11064240" cy="685800"/>
          </a:xfrm>
          <a:prstGeom prst="roundRect">
            <a:avLst>
              <a:gd name="adj" fmla="val 10667"/>
            </a:avLst>
          </a:prstGeom>
          <a:solidFill>
            <a:srgbClr val="F3F5FB"/>
          </a:solidFill>
          <a:ln/>
        </p:spPr>
      </p:sp>
      <p:sp>
        <p:nvSpPr>
          <p:cNvPr id="19" name="Text 16"/>
          <p:cNvSpPr txBox="1"/>
          <p:nvPr/>
        </p:nvSpPr>
        <p:spPr>
          <a:xfrm>
            <a:off x="777240" y="5257800"/>
            <a:ext cx="10607040" cy="68580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รันจริงบน docker-compose stack (Airflow 2.10.3 + Postgres 15) ในโปรเจกต์นี้ — ไม่ใช่ผลจำลอง</a:t>
            </a:r>
            <a:endParaRPr lang="en-US" sz="1300" dirty="0"/>
          </a:p>
        </p:txBody>
      </p:sp>
      <p:sp>
        <p:nvSpPr>
          <p:cNvPr id="25" name="Slide Number Placeholder 0"/>
          <p:cNvSpPr>
            <a:spLocks noGrp="1"/>
          </p:cNvSpPr>
          <p:nvPr>
            <p:ph type="sldNum" sz="quarter" idx="4294967295"/>
          </p:nvPr>
        </p:nvSpPr>
        <p:spPr>
          <a:xfrm>
            <a:off x="1156716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548640" y="365760"/>
            <a:ext cx="5486400" cy="320040"/>
          </a:xfrm>
          <a:prstGeom prst="rect">
            <a:avLst/>
          </a:prstGeom>
          <a:noFill/>
          <a:ln/>
        </p:spPr>
        <p:txBody>
          <a:bodyPr wrap="square" lIns="0" tIns="0" rIns="0" bIns="0"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TASK 4 — ผลการทดลองจริง</a:t>
            </a:r>
            <a:endParaRPr lang="en-US" sz="1200" dirty="0"/>
          </a:p>
        </p:txBody>
      </p:sp>
      <p:sp>
        <p:nvSpPr>
          <p:cNvPr id="4" name="Text 1"/>
          <p:cNvSpPr txBox="1"/>
          <p:nvPr/>
        </p:nvSpPr>
        <p:spPr>
          <a:xfrm>
            <a:off x="548640" y="658368"/>
            <a:ext cx="110642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ผลลัพธ์ Benchmark: Worker Slot Occupancy</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2011680"/>
        </p:xfrm>
        <a:graphic>
          <a:graphicData uri="http://schemas.openxmlformats.org/drawingml/2006/table">
            <a:tbl>
              <a:tblPr/>
              <a:tblGrid>
                <a:gridCol w="2194560"/>
                <a:gridCol w="2834640"/>
                <a:gridCol w="2011680"/>
                <a:gridCol w="2011680"/>
                <a:gridCol w="2011680"/>
              </a:tblGrid>
              <a:tr h="50292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Sensor Mode</a:t>
                      </a:r>
                      <a:endParaRPr lang="en-US" sz="12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Task State ระหว่างรอ</a:t>
                      </a:r>
                      <a:endParaRPr lang="en-US" sz="12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Avg CPU</a:t>
                      </a:r>
                      <a:endParaRPr lang="en-US" sz="1200" dirty="0">
                        <a:latin typeface="Calibri" charset="0"/>
                        <a:ea typeface="Calibri" charset="0"/>
                        <a:cs typeface="Calibri" charset="0"/>
                      </a:endParaRPr>
                    </a:p>
                    <a:p>
                      <a:pPr algn="ctr" indent="0" marL="0">
                        <a:buNone/>
                      </a:pPr>
                      <a:r>
                        <a:rPr lang="en-US" sz="1200" b="1" dirty="0">
                          <a:solidFill>
                            <a:srgbClr val="FFFFFF"/>
                          </a:solidFill>
                          <a:latin typeface="Calibri" pitchFamily="34" charset="0"/>
                          <a:ea typeface="Calibri" pitchFamily="34" charset="-122"/>
                          <a:cs typeface="Calibri" pitchFamily="34" charset="-120"/>
                        </a:rPr>
                        <a:t>Scheduler</a:t>
                      </a:r>
                      <a:endParaRPr lang="en-US" sz="12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Avg CPU</a:t>
                      </a:r>
                      <a:endParaRPr lang="en-US" sz="1200" dirty="0">
                        <a:latin typeface="Calibri" charset="0"/>
                        <a:ea typeface="Calibri" charset="0"/>
                        <a:cs typeface="Calibri" charset="0"/>
                      </a:endParaRPr>
                    </a:p>
                    <a:p>
                      <a:pPr algn="ctr" indent="0" marL="0">
                        <a:buNone/>
                      </a:pPr>
                      <a:r>
                        <a:rPr lang="en-US" sz="1200" b="1" dirty="0">
                          <a:solidFill>
                            <a:srgbClr val="FFFFFF"/>
                          </a:solidFill>
                          <a:latin typeface="Calibri" pitchFamily="34" charset="0"/>
                          <a:ea typeface="Calibri" pitchFamily="34" charset="-122"/>
                          <a:cs typeface="Calibri" pitchFamily="34" charset="-120"/>
                        </a:rPr>
                        <a:t>Triggerer</a:t>
                      </a:r>
                      <a:endParaRPr lang="en-US" sz="12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Worker Slot</a:t>
                      </a:r>
                      <a:endParaRPr lang="en-US" sz="12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E2761"/>
                    </a:solidFill>
                  </a:tcPr>
                </a:tc>
              </a:tr>
              <a:tr h="502920">
                <a:tc>
                  <a:txBody>
                    <a:bodyPr/>
                    <a:lstStyle/>
                    <a:p>
                      <a:pPr algn="ctr" indent="0" marL="0">
                        <a:buNone/>
                      </a:pPr>
                      <a:r>
                        <a:rPr lang="en-US" sz="1200" b="1" dirty="0">
                          <a:solidFill>
                            <a:srgbClr val="1E2761"/>
                          </a:solidFill>
                          <a:latin typeface="Calibri" pitchFamily="34" charset="0"/>
                          <a:ea typeface="Calibri" pitchFamily="34" charset="-122"/>
                          <a:cs typeface="Calibri" pitchFamily="34" charset="-120"/>
                        </a:rPr>
                        <a:t>poke</a:t>
                      </a:r>
                      <a:endParaRPr lang="en-US" sz="12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3F5FB"/>
                    </a:solidFill>
                  </a:tcPr>
                </a:tc>
                <a:tc>
                  <a:txBody>
                    <a:bodyPr/>
                    <a:lstStyle/>
                    <a:p>
                      <a:pPr algn="ctr" indent="0" marL="0">
                        <a:buNone/>
                      </a:pPr>
                      <a:r>
                        <a:rPr lang="en-US" sz="1200" dirty="0">
                          <a:solidFill>
                            <a:srgbClr val="1E2761"/>
                          </a:solidFill>
                          <a:latin typeface="Calibri" pitchFamily="34" charset="0"/>
                          <a:ea typeface="Calibri" pitchFamily="34" charset="-122"/>
                          <a:cs typeface="Calibri" pitchFamily="34" charset="-120"/>
                        </a:rPr>
                        <a:t>running</a:t>
                      </a:r>
                      <a:endParaRPr lang="en-US" sz="12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3F5FB"/>
                    </a:solidFill>
                  </a:tcPr>
                </a:tc>
                <a:tc>
                  <a:txBody>
                    <a:bodyPr/>
                    <a:lstStyle/>
                    <a:p>
                      <a:pPr algn="ctr" indent="0" marL="0">
                        <a:buNone/>
                      </a:pPr>
                      <a:r>
                        <a:rPr lang="en-US" sz="1200" dirty="0">
                          <a:solidFill>
                            <a:srgbClr val="1E2761"/>
                          </a:solidFill>
                          <a:latin typeface="Calibri" pitchFamily="34" charset="0"/>
                          <a:ea typeface="Calibri" pitchFamily="34" charset="-122"/>
                          <a:cs typeface="Calibri" pitchFamily="34" charset="-120"/>
                        </a:rPr>
                        <a:t>10.71%</a:t>
                      </a:r>
                      <a:endParaRPr lang="en-US" sz="12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3F5FB"/>
                    </a:solidFill>
                  </a:tcPr>
                </a:tc>
                <a:tc>
                  <a:txBody>
                    <a:bodyPr/>
                    <a:lstStyle/>
                    <a:p>
                      <a:pPr algn="ctr" indent="0" marL="0">
                        <a:buNone/>
                      </a:pPr>
                      <a:r>
                        <a:rPr lang="en-US" sz="1200" dirty="0">
                          <a:solidFill>
                            <a:srgbClr val="1E2761"/>
                          </a:solidFill>
                          <a:latin typeface="Calibri" pitchFamily="34" charset="0"/>
                          <a:ea typeface="Calibri" pitchFamily="34" charset="-122"/>
                          <a:cs typeface="Calibri" pitchFamily="34" charset="-120"/>
                        </a:rPr>
                        <a:t>1.71%</a:t>
                      </a:r>
                      <a:endParaRPr lang="en-US" sz="12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3F5FB"/>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ครอบครองตลอด</a:t>
                      </a:r>
                      <a:endParaRPr lang="en-US" sz="12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3F5FB"/>
                    </a:solidFill>
                  </a:tcPr>
                </a:tc>
              </a:tr>
              <a:tr h="502920">
                <a:tc>
                  <a:txBody>
                    <a:bodyPr/>
                    <a:lstStyle/>
                    <a:p>
                      <a:pPr algn="ctr" indent="0" marL="0">
                        <a:buNone/>
                      </a:pPr>
                      <a:r>
                        <a:rPr lang="en-US" sz="1200" b="1" dirty="0">
                          <a:solidFill>
                            <a:srgbClr val="1E2761"/>
                          </a:solidFill>
                          <a:latin typeface="Calibri" pitchFamily="34" charset="0"/>
                          <a:ea typeface="Calibri" pitchFamily="34" charset="-122"/>
                          <a:cs typeface="Calibri" pitchFamily="34" charset="-120"/>
                        </a:rPr>
                        <a:t>reschedule</a:t>
                      </a:r>
                      <a:endParaRPr lang="en-US" sz="12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761"/>
                          </a:solidFill>
                          <a:latin typeface="Calibri" pitchFamily="34" charset="0"/>
                          <a:ea typeface="Calibri" pitchFamily="34" charset="-122"/>
                          <a:cs typeface="Calibri" pitchFamily="34" charset="-120"/>
                        </a:rPr>
                        <a:t>up_for_reschedule</a:t>
                      </a:r>
                      <a:endParaRPr lang="en-US" sz="12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761"/>
                          </a:solidFill>
                          <a:latin typeface="Calibri" pitchFamily="34" charset="0"/>
                          <a:ea typeface="Calibri" pitchFamily="34" charset="-122"/>
                          <a:cs typeface="Calibri" pitchFamily="34" charset="-120"/>
                        </a:rPr>
                        <a:t>21.19%</a:t>
                      </a:r>
                      <a:endParaRPr lang="en-US" sz="12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761"/>
                          </a:solidFill>
                          <a:latin typeface="Calibri" pitchFamily="34" charset="0"/>
                          <a:ea typeface="Calibri" pitchFamily="34" charset="-122"/>
                          <a:cs typeface="Calibri" pitchFamily="34" charset="-120"/>
                        </a:rPr>
                        <a:t>2.02%</a:t>
                      </a:r>
                      <a:endParaRPr lang="en-US" sz="12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E2761"/>
                          </a:solidFill>
                          <a:latin typeface="Calibri" pitchFamily="34" charset="0"/>
                          <a:ea typeface="Calibri" pitchFamily="34" charset="-122"/>
                          <a:cs typeface="Calibri" pitchFamily="34" charset="-120"/>
                        </a:rPr>
                        <a:t>คืนบางส่วน</a:t>
                      </a:r>
                      <a:endParaRPr lang="en-US" sz="12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200" b="1" dirty="0">
                          <a:solidFill>
                            <a:srgbClr val="1E2761"/>
                          </a:solidFill>
                          <a:latin typeface="Calibri" pitchFamily="34" charset="0"/>
                          <a:ea typeface="Calibri" pitchFamily="34" charset="-122"/>
                          <a:cs typeface="Calibri" pitchFamily="34" charset="-120"/>
                        </a:rPr>
                        <a:t>deferrable</a:t>
                      </a:r>
                      <a:endParaRPr lang="en-US" sz="12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ADCFC"/>
                    </a:solidFill>
                  </a:tcPr>
                </a:tc>
                <a:tc>
                  <a:txBody>
                    <a:bodyPr/>
                    <a:lstStyle/>
                    <a:p>
                      <a:pPr algn="ctr" indent="0" marL="0">
                        <a:buNone/>
                      </a:pPr>
                      <a:r>
                        <a:rPr lang="en-US" sz="1200" dirty="0">
                          <a:solidFill>
                            <a:srgbClr val="1E2761"/>
                          </a:solidFill>
                          <a:latin typeface="Calibri" pitchFamily="34" charset="0"/>
                          <a:ea typeface="Calibri" pitchFamily="34" charset="-122"/>
                          <a:cs typeface="Calibri" pitchFamily="34" charset="-120"/>
                        </a:rPr>
                        <a:t>deferred</a:t>
                      </a:r>
                      <a:endParaRPr lang="en-US" sz="12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ADCFC"/>
                    </a:solidFill>
                  </a:tcPr>
                </a:tc>
                <a:tc>
                  <a:txBody>
                    <a:bodyPr/>
                    <a:lstStyle/>
                    <a:p>
                      <a:pPr algn="ctr" indent="0" marL="0">
                        <a:buNone/>
                      </a:pPr>
                      <a:r>
                        <a:rPr lang="en-US" sz="1200" dirty="0">
                          <a:solidFill>
                            <a:srgbClr val="1E2761"/>
                          </a:solidFill>
                          <a:latin typeface="Calibri" pitchFamily="34" charset="0"/>
                          <a:ea typeface="Calibri" pitchFamily="34" charset="-122"/>
                          <a:cs typeface="Calibri" pitchFamily="34" charset="-120"/>
                        </a:rPr>
                        <a:t>13.87%</a:t>
                      </a:r>
                      <a:endParaRPr lang="en-US" sz="12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ADCFC"/>
                    </a:solidFill>
                  </a:tcPr>
                </a:tc>
                <a:tc>
                  <a:txBody>
                    <a:bodyPr/>
                    <a:lstStyle/>
                    <a:p>
                      <a:pPr algn="ctr" indent="0" marL="0">
                        <a:buNone/>
                      </a:pPr>
                      <a:r>
                        <a:rPr lang="en-US" sz="1200" dirty="0">
                          <a:solidFill>
                            <a:srgbClr val="1E2761"/>
                          </a:solidFill>
                          <a:latin typeface="Calibri" pitchFamily="34" charset="0"/>
                          <a:ea typeface="Calibri" pitchFamily="34" charset="-122"/>
                          <a:cs typeface="Calibri" pitchFamily="34" charset="-120"/>
                        </a:rPr>
                        <a:t>5.35%</a:t>
                      </a:r>
                      <a:endParaRPr lang="en-US" sz="12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ADCFC"/>
                    </a:solidFill>
                  </a:tcPr>
                </a:tc>
                <a:tc>
                  <a:txBody>
                    <a:bodyPr/>
                    <a:lstStyle/>
                    <a:p>
                      <a:pPr algn="ctr" indent="0" marL="0">
                        <a:buNone/>
                      </a:pPr>
                      <a:r>
                        <a:rPr lang="en-US" sz="1200" b="1" dirty="0">
                          <a:solidFill>
                            <a:srgbClr val="1E2761"/>
                          </a:solidFill>
                          <a:latin typeface="Calibri" pitchFamily="34" charset="0"/>
                          <a:ea typeface="Calibri" pitchFamily="34" charset="-122"/>
                          <a:cs typeface="Calibri" pitchFamily="34" charset="-120"/>
                        </a:rPr>
                        <a:t>คืนทั้งหมด</a:t>
                      </a:r>
                      <a:endParaRPr lang="en-US" sz="12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ADCFC"/>
                    </a:solidFill>
                  </a:tcPr>
                </a:tc>
              </a:tr>
            </a:tbl>
          </a:graphicData>
        </a:graphic>
      </p:graphicFrame>
      <p:sp>
        <p:nvSpPr>
          <p:cNvPr id="6" name="Text 2"/>
          <p:cNvSpPr txBox="1"/>
          <p:nvPr/>
        </p:nvSpPr>
        <p:spPr>
          <a:xfrm>
            <a:off x="548640" y="3886200"/>
            <a:ext cx="11064240" cy="731520"/>
          </a:xfrm>
          <a:prstGeom prst="rect">
            <a:avLst/>
          </a:prstGeom>
          <a:noFill/>
          <a:ln/>
        </p:spPr>
        <p:txBody>
          <a:bodyPr wrap="square" lIns="0" tIns="0" rIns="0" bIns="0" rtlCol="0" anchor="ctr"/>
          <a:lstStyle/>
          <a:p>
            <a:pPr indent="0" marL="0">
              <a:buNone/>
            </a:pPr>
            <a:r>
              <a:rPr lang="en-US" sz="1250" dirty="0">
                <a:solidFill>
                  <a:srgbClr val="5B6472"/>
                </a:solidFill>
                <a:latin typeface="Calibri" pitchFamily="34" charset="0"/>
                <a:ea typeface="Calibri" pitchFamily="34" charset="-122"/>
                <a:cs typeface="Calibri" pitchFamily="34" charset="-120"/>
              </a:rPr>
              <a:t>ข้อสรุปสำคัญ: task_states_seen ตรงตามการออกแบบทุกกรณี — เป็นตัวชี้วัดที่แม่นยำกว่า CPU% ที่ขนาดการทดสอบเล็ก เพราะ CPU% ที่ scheduler ถูกครอบงำโดย housekeeping ของ Airflow เอง ไม่ใช่ sensor loop</a:t>
            </a:r>
            <a:endParaRPr lang="en-US" sz="1250" dirty="0"/>
          </a:p>
        </p:txBody>
      </p:sp>
      <p:sp>
        <p:nvSpPr>
          <p:cNvPr id="7" name="Shape 3"/>
          <p:cNvSpPr/>
          <p:nvPr/>
        </p:nvSpPr>
        <p:spPr>
          <a:xfrm>
            <a:off x="548640" y="4754880"/>
            <a:ext cx="11064240" cy="1188720"/>
          </a:xfrm>
          <a:prstGeom prst="roundRect">
            <a:avLst>
              <a:gd name="adj" fmla="val 6154"/>
            </a:avLst>
          </a:prstGeom>
          <a:solidFill>
            <a:srgbClr val="1A1F3D"/>
          </a:solidFill>
          <a:ln/>
        </p:spPr>
      </p:sp>
      <p:sp>
        <p:nvSpPr>
          <p:cNvPr id="8" name="Text 4"/>
          <p:cNvSpPr txBox="1"/>
          <p:nvPr/>
        </p:nvSpPr>
        <p:spPr>
          <a:xfrm>
            <a:off x="822960" y="4937760"/>
            <a:ext cx="10515600" cy="86868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ที่ Scale ใหญ่ (หลายสิบ/หลายร้อย DAG run รอพร้อมกัน): poke ต้องใช้ 1 worker slot ต่อการรอ 1 ครั้งเสมอ, reschedule ต้อง requeue ผ่าน scheduler ทุกรอบ poke_interval, ส่วน deferrable ใช้เพียงหน่วยความจำเล็กน้อยใน Triggerer เท่านั้น</a:t>
            </a:r>
            <a:endParaRPr lang="en-US" sz="1250" dirty="0"/>
          </a:p>
        </p:txBody>
      </p:sp>
      <p:sp>
        <p:nvSpPr>
          <p:cNvPr id="25" name="Slide Number Placeholder 0"/>
          <p:cNvSpPr>
            <a:spLocks noGrp="1"/>
          </p:cNvSpPr>
          <p:nvPr>
            <p:ph type="sldNum" sz="quarter" idx="4294967295"/>
          </p:nvPr>
        </p:nvSpPr>
        <p:spPr>
          <a:xfrm>
            <a:off x="1156716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txBox="1"/>
          <p:nvPr/>
        </p:nvSpPr>
        <p:spPr>
          <a:xfrm>
            <a:off x="548640" y="365760"/>
            <a:ext cx="5486400" cy="320040"/>
          </a:xfrm>
          <a:prstGeom prst="rect">
            <a:avLst/>
          </a:prstGeom>
          <a:noFill/>
          <a:ln/>
        </p:spPr>
        <p:txBody>
          <a:bodyPr wrap="square" lIns="0" tIns="0" rIns="0" bIns="0"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TASK 4 — SCALABILITY PROPOSAL</a:t>
            </a:r>
            <a:endParaRPr lang="en-US" sz="1200" dirty="0"/>
          </a:p>
        </p:txBody>
      </p:sp>
      <p:sp>
        <p:nvSpPr>
          <p:cNvPr id="4" name="Text 1"/>
          <p:cNvSpPr txBox="1"/>
          <p:nvPr/>
        </p:nvSpPr>
        <p:spPr>
          <a:xfrm>
            <a:off x="548640" y="658368"/>
            <a:ext cx="110642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ข้อเสนอสถาปัตยกรรมสำหรับ 10,000 Transactions/วินาที</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4114800"/>
        </p:xfrm>
        <a:graphic>
          <a:graphicData uri="http://schemas.openxmlformats.org/drawingml/2006/table">
            <a:tbl>
              <a:tblPr/>
              <a:tblGrid>
                <a:gridCol w="2377440"/>
                <a:gridCol w="4114800"/>
                <a:gridCol w="4572000"/>
              </a:tblGrid>
              <a:tr h="587829">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Layer</a:t>
                      </a:r>
                      <a:endParaRPr lang="en-US" sz="115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ปัจจุบัน (Assignment)</a:t>
                      </a:r>
                      <a:endParaRPr lang="en-US" sz="115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ที่ 10,000 TPS</a:t>
                      </a:r>
                      <a:endParaRPr lang="en-US" sz="115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E2761"/>
                    </a:solidFill>
                  </a:tcPr>
                </a:tc>
              </a:tr>
              <a:tr h="587829">
                <a:tc>
                  <a:txBody>
                    <a:bodyPr/>
                    <a:lstStyle/>
                    <a:p>
                      <a:pPr indent="0" marL="0">
                        <a:buNone/>
                      </a:pPr>
                      <a:r>
                        <a:rPr lang="en-US" sz="1100" b="1" dirty="0">
                          <a:solidFill>
                            <a:srgbClr val="1E2761"/>
                          </a:solidFill>
                          <a:latin typeface="Calibri" pitchFamily="34" charset="0"/>
                          <a:ea typeface="Calibri" pitchFamily="34" charset="-122"/>
                          <a:cs typeface="Calibri" pitchFamily="34" charset="-120"/>
                        </a:rPr>
                        <a:t>Ingestion Transport</a:t>
                      </a:r>
                      <a:endParaRPr lang="en-US" sz="11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3F5FB"/>
                    </a:solidFill>
                  </a:tcPr>
                </a:tc>
                <a:tc>
                  <a:txBody>
                    <a:bodyPr/>
                    <a:lstStyle/>
                    <a:p>
                      <a:pPr indent="0" marL="0">
                        <a:buNone/>
                      </a:pPr>
                      <a:r>
                        <a:rPr lang="en-US" sz="1100" dirty="0">
                          <a:solidFill>
                            <a:srgbClr val="1E2761"/>
                          </a:solidFill>
                          <a:latin typeface="Calibri" pitchFamily="34" charset="0"/>
                          <a:ea typeface="Calibri" pitchFamily="34" charset="-122"/>
                          <a:cs typeface="Calibri" pitchFamily="34" charset="-120"/>
                        </a:rPr>
                        <a:t>File landing + FileSensor</a:t>
                      </a:r>
                      <a:endParaRPr lang="en-US" sz="11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3F5FB"/>
                    </a:solidFill>
                  </a:tcPr>
                </a:tc>
                <a:tc>
                  <a:txBody>
                    <a:bodyPr/>
                    <a:lstStyle/>
                    <a:p>
                      <a:pPr indent="0" marL="0">
                        <a:buNone/>
                      </a:pPr>
                      <a:r>
                        <a:rPr lang="en-US" sz="1100" b="1" dirty="0">
                          <a:solidFill>
                            <a:srgbClr val="B3261E"/>
                          </a:solidFill>
                          <a:latin typeface="Calibri" pitchFamily="34" charset="0"/>
                          <a:ea typeface="Calibri" pitchFamily="34" charset="-122"/>
                          <a:cs typeface="Calibri" pitchFamily="34" charset="-120"/>
                        </a:rPr>
                        <a:t>Apache Kafka (partition by store_id)</a:t>
                      </a:r>
                      <a:endParaRPr lang="en-US" sz="11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3F5FB"/>
                    </a:solidFill>
                  </a:tcPr>
                </a:tc>
              </a:tr>
              <a:tr h="587829">
                <a:tc>
                  <a:txBody>
                    <a:bodyPr/>
                    <a:lstStyle/>
                    <a:p>
                      <a:pPr indent="0" marL="0">
                        <a:buNone/>
                      </a:pPr>
                      <a:r>
                        <a:rPr lang="en-US" sz="1100" b="1" dirty="0">
                          <a:solidFill>
                            <a:srgbClr val="1E2761"/>
                          </a:solidFill>
                          <a:latin typeface="Calibri" pitchFamily="34" charset="0"/>
                          <a:ea typeface="Calibri" pitchFamily="34" charset="-122"/>
                          <a:cs typeface="Calibri" pitchFamily="34" charset="-120"/>
                        </a:rPr>
                        <a:t>Processing</a:t>
                      </a:r>
                      <a:endParaRPr lang="en-US" sz="11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dirty="0">
                          <a:solidFill>
                            <a:srgbClr val="1E2761"/>
                          </a:solidFill>
                          <a:latin typeface="Calibri" pitchFamily="34" charset="0"/>
                          <a:ea typeface="Calibri" pitchFamily="34" charset="-122"/>
                          <a:cs typeface="Calibri" pitchFamily="34" charset="-120"/>
                        </a:rPr>
                        <a:t>Airflow batch DAG ทุก 2 นาที</a:t>
                      </a:r>
                      <a:endParaRPr lang="en-US" sz="11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b="1" dirty="0">
                          <a:solidFill>
                            <a:srgbClr val="B3261E"/>
                          </a:solidFill>
                          <a:latin typeface="Calibri" pitchFamily="34" charset="0"/>
                          <a:ea typeface="Calibri" pitchFamily="34" charset="-122"/>
                          <a:cs typeface="Calibri" pitchFamily="34" charset="-120"/>
                        </a:rPr>
                        <a:t>Flink / Kafka Streams (continuous)</a:t>
                      </a:r>
                      <a:endParaRPr lang="en-US" sz="11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587829">
                <a:tc>
                  <a:txBody>
                    <a:bodyPr/>
                    <a:lstStyle/>
                    <a:p>
                      <a:pPr indent="0" marL="0">
                        <a:buNone/>
                      </a:pPr>
                      <a:r>
                        <a:rPr lang="en-US" sz="1100" b="1" dirty="0">
                          <a:solidFill>
                            <a:srgbClr val="1E2761"/>
                          </a:solidFill>
                          <a:latin typeface="Calibri" pitchFamily="34" charset="0"/>
                          <a:ea typeface="Calibri" pitchFamily="34" charset="-122"/>
                          <a:cs typeface="Calibri" pitchFamily="34" charset="-120"/>
                        </a:rPr>
                        <a:t>Idempotency</a:t>
                      </a:r>
                      <a:endParaRPr lang="en-US" sz="11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3F5FB"/>
                    </a:solidFill>
                  </a:tcPr>
                </a:tc>
                <a:tc>
                  <a:txBody>
                    <a:bodyPr/>
                    <a:lstStyle/>
                    <a:p>
                      <a:pPr indent="0" marL="0">
                        <a:buNone/>
                      </a:pPr>
                      <a:r>
                        <a:rPr lang="en-US" sz="1100" dirty="0">
                          <a:solidFill>
                            <a:srgbClr val="1E2761"/>
                          </a:solidFill>
                          <a:latin typeface="Calibri" pitchFamily="34" charset="0"/>
                          <a:ea typeface="Calibri" pitchFamily="34" charset="-122"/>
                          <a:cs typeface="Calibri" pitchFamily="34" charset="-120"/>
                        </a:rPr>
                        <a:t>ON CONFLICT DO UPDATE (Postgres)</a:t>
                      </a:r>
                      <a:endParaRPr lang="en-US" sz="11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3F5FB"/>
                    </a:solidFill>
                  </a:tcPr>
                </a:tc>
                <a:tc>
                  <a:txBody>
                    <a:bodyPr/>
                    <a:lstStyle/>
                    <a:p>
                      <a:pPr indent="0" marL="0">
                        <a:buNone/>
                      </a:pPr>
                      <a:r>
                        <a:rPr lang="en-US" sz="1100" dirty="0">
                          <a:solidFill>
                            <a:srgbClr val="1E2761"/>
                          </a:solidFill>
                          <a:latin typeface="Calibri" pitchFamily="34" charset="0"/>
                          <a:ea typeface="Calibri" pitchFamily="34" charset="-122"/>
                          <a:cs typeface="Calibri" pitchFamily="34" charset="-120"/>
                        </a:rPr>
                        <a:t>Kafka exactly-once + upsert key</a:t>
                      </a:r>
                      <a:endParaRPr lang="en-US" sz="11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3F5FB"/>
                    </a:solidFill>
                  </a:tcPr>
                </a:tc>
              </a:tr>
              <a:tr h="587829">
                <a:tc>
                  <a:txBody>
                    <a:bodyPr/>
                    <a:lstStyle/>
                    <a:p>
                      <a:pPr indent="0" marL="0">
                        <a:buNone/>
                      </a:pPr>
                      <a:r>
                        <a:rPr lang="en-US" sz="1100" b="1" dirty="0">
                          <a:solidFill>
                            <a:srgbClr val="1E2761"/>
                          </a:solidFill>
                          <a:latin typeface="Calibri" pitchFamily="34" charset="0"/>
                          <a:ea typeface="Calibri" pitchFamily="34" charset="-122"/>
                          <a:cs typeface="Calibri" pitchFamily="34" charset="-120"/>
                        </a:rPr>
                        <a:t>Analytics Store</a:t>
                      </a:r>
                      <a:endParaRPr lang="en-US" sz="11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dirty="0">
                          <a:solidFill>
                            <a:srgbClr val="1E2761"/>
                          </a:solidFill>
                          <a:latin typeface="Calibri" pitchFamily="34" charset="0"/>
                          <a:ea typeface="Calibri" pitchFamily="34" charset="-122"/>
                          <a:cs typeface="Calibri" pitchFamily="34" charset="-120"/>
                        </a:rPr>
                        <a:t>PostgreSQL (row-store)</a:t>
                      </a:r>
                      <a:endParaRPr lang="en-US" sz="11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b="1" dirty="0">
                          <a:solidFill>
                            <a:srgbClr val="B3261E"/>
                          </a:solidFill>
                          <a:latin typeface="Calibri" pitchFamily="34" charset="0"/>
                          <a:ea typeface="Calibri" pitchFamily="34" charset="-122"/>
                          <a:cs typeface="Calibri" pitchFamily="34" charset="-120"/>
                        </a:rPr>
                        <a:t>ClickHouse / Druid / BigQuery (columnar)</a:t>
                      </a:r>
                      <a:endParaRPr lang="en-US" sz="11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587829">
                <a:tc>
                  <a:txBody>
                    <a:bodyPr/>
                    <a:lstStyle/>
                    <a:p>
                      <a:pPr indent="0" marL="0">
                        <a:buNone/>
                      </a:pPr>
                      <a:r>
                        <a:rPr lang="en-US" sz="1100" b="1" dirty="0">
                          <a:solidFill>
                            <a:srgbClr val="1E2761"/>
                          </a:solidFill>
                          <a:latin typeface="Calibri" pitchFamily="34" charset="0"/>
                          <a:ea typeface="Calibri" pitchFamily="34" charset="-122"/>
                          <a:cs typeface="Calibri" pitchFamily="34" charset="-120"/>
                        </a:rPr>
                        <a:t>Anomaly Detection</a:t>
                      </a:r>
                      <a:endParaRPr lang="en-US" sz="11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3F5FB"/>
                    </a:solidFill>
                  </a:tcPr>
                </a:tc>
                <a:tc>
                  <a:txBody>
                    <a:bodyPr/>
                    <a:lstStyle/>
                    <a:p>
                      <a:pPr indent="0" marL="0">
                        <a:buNone/>
                      </a:pPr>
                      <a:r>
                        <a:rPr lang="en-US" sz="1100" dirty="0">
                          <a:solidFill>
                            <a:srgbClr val="1E2761"/>
                          </a:solidFill>
                          <a:latin typeface="Calibri" pitchFamily="34" charset="0"/>
                          <a:ea typeface="Calibri" pitchFamily="34" charset="-122"/>
                          <a:cs typeface="Calibri" pitchFamily="34" charset="-120"/>
                        </a:rPr>
                        <a:t>Python task ต่อ DAG run</a:t>
                      </a:r>
                      <a:endParaRPr lang="en-US" sz="11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3F5FB"/>
                    </a:solidFill>
                  </a:tcPr>
                </a:tc>
                <a:tc>
                  <a:txBody>
                    <a:bodyPr/>
                    <a:lstStyle/>
                    <a:p>
                      <a:pPr indent="0" marL="0">
                        <a:buNone/>
                      </a:pPr>
                      <a:r>
                        <a:rPr lang="en-US" sz="1100" dirty="0">
                          <a:solidFill>
                            <a:srgbClr val="1E2761"/>
                          </a:solidFill>
                          <a:latin typeface="Calibri" pitchFamily="34" charset="0"/>
                          <a:ea typeface="Calibri" pitchFamily="34" charset="-122"/>
                          <a:cs typeface="Calibri" pitchFamily="34" charset="-120"/>
                        </a:rPr>
                        <a:t>Streaming CEP (rolling z-score)</a:t>
                      </a:r>
                      <a:endParaRPr lang="en-US" sz="11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3F5FB"/>
                    </a:solidFill>
                  </a:tcPr>
                </a:tc>
              </a:tr>
              <a:tr h="587829">
                <a:tc>
                  <a:txBody>
                    <a:bodyPr/>
                    <a:lstStyle/>
                    <a:p>
                      <a:pPr indent="0" marL="0">
                        <a:buNone/>
                      </a:pPr>
                      <a:r>
                        <a:rPr lang="en-US" sz="1100" b="1" dirty="0">
                          <a:solidFill>
                            <a:srgbClr val="1E2761"/>
                          </a:solidFill>
                          <a:latin typeface="Calibri" pitchFamily="34" charset="0"/>
                          <a:ea typeface="Calibri" pitchFamily="34" charset="-122"/>
                          <a:cs typeface="Calibri" pitchFamily="34" charset="-120"/>
                        </a:rPr>
                        <a:t>Alerting</a:t>
                      </a:r>
                      <a:endParaRPr lang="en-US" sz="11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dirty="0">
                          <a:solidFill>
                            <a:srgbClr val="1E2761"/>
                          </a:solidFill>
                          <a:latin typeface="Calibri" pitchFamily="34" charset="0"/>
                          <a:ea typeface="Calibri" pitchFamily="34" charset="-122"/>
                          <a:cs typeface="Calibri" pitchFamily="34" charset="-120"/>
                        </a:rPr>
                        <a:t>Airflow task → Webhook</a:t>
                      </a:r>
                      <a:endParaRPr lang="en-US" sz="11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dirty="0">
                          <a:solidFill>
                            <a:srgbClr val="1E2761"/>
                          </a:solidFill>
                          <a:latin typeface="Calibri" pitchFamily="34" charset="0"/>
                          <a:ea typeface="Calibri" pitchFamily="34" charset="-122"/>
                          <a:cs typeface="Calibri" pitchFamily="34" charset="-120"/>
                        </a:rPr>
                        <a:t>Dedicated consumer บน anomaly topic</a:t>
                      </a:r>
                      <a:endParaRPr lang="en-US" sz="11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548640" y="6492240"/>
            <a:ext cx="8229600" cy="274320"/>
          </a:xfrm>
          <a:prstGeom prst="rect">
            <a:avLst/>
          </a:prstGeom>
          <a:noFill/>
          <a:ln/>
        </p:spPr>
        <p:txBody>
          <a:bodyPr wrap="square" lIns="0" tIns="0" rIns="0" bIns="0" rtlCol="0" anchor="ctr"/>
          <a:lstStyle/>
          <a:p>
            <a:pPr indent="0" marL="0">
              <a:buNone/>
            </a:pPr>
            <a:r>
              <a:rPr lang="en-US" sz="900" dirty="0">
                <a:solidFill>
                  <a:srgbClr val="5B6472"/>
                </a:solidFill>
                <a:latin typeface="Calibri" pitchFamily="34" charset="0"/>
                <a:ea typeface="Calibri" pitchFamily="34" charset="-122"/>
                <a:cs typeface="Calibri" pitchFamily="34" charset="-120"/>
              </a:rPr>
              <a:t>เหตุผล: หน่วยงานเดิมคือ "1 DAG run ต่อ 1 ไฟล์" ที่ 10,000 TPS หน่วยงานต้องเปลี่ยนเป็น "stream processing ต่อเนื่อง" — เป็นการเปลี่ยนเชิงคุณภาพ ไม่ใช่แค่ scale infra เดิมให้ใหญ่ขึ้น</a:t>
            </a:r>
            <a:endParaRPr lang="en-US" sz="900" dirty="0"/>
          </a:p>
        </p:txBody>
      </p:sp>
      <p:sp>
        <p:nvSpPr>
          <p:cNvPr id="25" name="Slide Number Placeholder 0"/>
          <p:cNvSpPr>
            <a:spLocks noGrp="1"/>
          </p:cNvSpPr>
          <p:nvPr>
            <p:ph type="sldNum" sz="quarter" idx="4294967295"/>
          </p:nvPr>
        </p:nvSpPr>
        <p:spPr>
          <a:xfrm>
            <a:off x="1156716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txBox="1"/>
          <p:nvPr/>
        </p:nvSpPr>
        <p:spPr>
          <a:xfrm>
            <a:off x="548640" y="365760"/>
            <a:ext cx="5486400" cy="320040"/>
          </a:xfrm>
          <a:prstGeom prst="rect">
            <a:avLst/>
          </a:prstGeom>
          <a:noFill/>
          <a:ln/>
        </p:spPr>
        <p:txBody>
          <a:bodyPr wrap="square" lIns="0" tIns="0" rIns="0" bIns="0"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SUMMARY</a:t>
            </a:r>
            <a:endParaRPr lang="en-US" sz="1200" dirty="0"/>
          </a:p>
        </p:txBody>
      </p:sp>
      <p:sp>
        <p:nvSpPr>
          <p:cNvPr id="4" name="Text 1"/>
          <p:cNvSpPr txBox="1"/>
          <p:nvPr/>
        </p:nvSpPr>
        <p:spPr>
          <a:xfrm>
            <a:off x="548640" y="658368"/>
            <a:ext cx="110642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สรุปผลลัพธ์เทียบกับเกณฑ์การประเมิน</a:t>
            </a:r>
            <a:endParaRPr lang="en-US" sz="3000" dirty="0"/>
          </a:p>
        </p:txBody>
      </p:sp>
      <p:sp>
        <p:nvSpPr>
          <p:cNvPr id="5" name="Shape 2"/>
          <p:cNvSpPr/>
          <p:nvPr/>
        </p:nvSpPr>
        <p:spPr>
          <a:xfrm>
            <a:off x="548640" y="1737360"/>
            <a:ext cx="11064240" cy="1005840"/>
          </a:xfrm>
          <a:prstGeom prst="roundRect">
            <a:avLst>
              <a:gd name="adj" fmla="val 7273"/>
            </a:avLst>
          </a:prstGeom>
          <a:solidFill>
            <a:srgbClr val="F3F5FB"/>
          </a:solidFill>
          <a:ln/>
        </p:spPr>
      </p:sp>
      <p:sp>
        <p:nvSpPr>
          <p:cNvPr id="6" name="Shape 3"/>
          <p:cNvSpPr/>
          <p:nvPr/>
        </p:nvSpPr>
        <p:spPr>
          <a:xfrm>
            <a:off x="548640" y="1737360"/>
            <a:ext cx="1417320" cy="1005840"/>
          </a:xfrm>
          <a:prstGeom prst="roundRect">
            <a:avLst>
              <a:gd name="adj" fmla="val 7273"/>
            </a:avLst>
          </a:prstGeom>
          <a:solidFill>
            <a:srgbClr val="1E2761"/>
          </a:solidFill>
          <a:ln/>
        </p:spPr>
      </p:sp>
      <p:sp>
        <p:nvSpPr>
          <p:cNvPr id="7" name="Text 4"/>
          <p:cNvSpPr txBox="1"/>
          <p:nvPr/>
        </p:nvSpPr>
        <p:spPr>
          <a:xfrm>
            <a:off x="548640" y="1737360"/>
            <a:ext cx="1417320" cy="100584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30%</a:t>
            </a:r>
            <a:endParaRPr lang="en-US" sz="2200" dirty="0"/>
          </a:p>
        </p:txBody>
      </p:sp>
      <p:sp>
        <p:nvSpPr>
          <p:cNvPr id="8" name="Text 5"/>
          <p:cNvSpPr txBox="1"/>
          <p:nvPr/>
        </p:nvSpPr>
        <p:spPr>
          <a:xfrm>
            <a:off x="2148840" y="1828800"/>
            <a:ext cx="9052560" cy="41148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System Resilience &amp; Data Quality</a:t>
            </a:r>
            <a:endParaRPr lang="en-US" sz="1450" dirty="0"/>
          </a:p>
        </p:txBody>
      </p:sp>
      <p:sp>
        <p:nvSpPr>
          <p:cNvPr id="9" name="Text 6"/>
          <p:cNvSpPr txBox="1"/>
          <p:nvPr/>
        </p:nvSpPr>
        <p:spPr>
          <a:xfrm>
            <a:off x="2148840" y="2240280"/>
            <a:ext cx="9052560" cy="45720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Idempotency ยืนยันด้วยการทดสอบจริง (58→58) · Anomaly ถูก flag ไม่ถูกทิ้ง</a:t>
            </a:r>
            <a:endParaRPr lang="en-US" sz="1150" dirty="0"/>
          </a:p>
        </p:txBody>
      </p:sp>
      <p:sp>
        <p:nvSpPr>
          <p:cNvPr id="10" name="Shape 7"/>
          <p:cNvSpPr/>
          <p:nvPr/>
        </p:nvSpPr>
        <p:spPr>
          <a:xfrm>
            <a:off x="548640" y="2907792"/>
            <a:ext cx="11064240" cy="1005840"/>
          </a:xfrm>
          <a:prstGeom prst="roundRect">
            <a:avLst>
              <a:gd name="adj" fmla="val 7273"/>
            </a:avLst>
          </a:prstGeom>
          <a:solidFill>
            <a:srgbClr val="F3F5FB"/>
          </a:solidFill>
          <a:ln/>
        </p:spPr>
      </p:sp>
      <p:sp>
        <p:nvSpPr>
          <p:cNvPr id="11" name="Shape 8"/>
          <p:cNvSpPr/>
          <p:nvPr/>
        </p:nvSpPr>
        <p:spPr>
          <a:xfrm>
            <a:off x="548640" y="2907792"/>
            <a:ext cx="1417320" cy="1005840"/>
          </a:xfrm>
          <a:prstGeom prst="roundRect">
            <a:avLst>
              <a:gd name="adj" fmla="val 7273"/>
            </a:avLst>
          </a:prstGeom>
          <a:solidFill>
            <a:srgbClr val="1E2761"/>
          </a:solidFill>
          <a:ln/>
        </p:spPr>
      </p:sp>
      <p:sp>
        <p:nvSpPr>
          <p:cNvPr id="12" name="Text 9"/>
          <p:cNvSpPr txBox="1"/>
          <p:nvPr/>
        </p:nvSpPr>
        <p:spPr>
          <a:xfrm>
            <a:off x="548640" y="2907792"/>
            <a:ext cx="1417320" cy="100584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25%</a:t>
            </a:r>
            <a:endParaRPr lang="en-US" sz="2200" dirty="0"/>
          </a:p>
        </p:txBody>
      </p:sp>
      <p:sp>
        <p:nvSpPr>
          <p:cNvPr id="13" name="Text 10"/>
          <p:cNvSpPr txBox="1"/>
          <p:nvPr/>
        </p:nvSpPr>
        <p:spPr>
          <a:xfrm>
            <a:off x="2148840" y="2999232"/>
            <a:ext cx="9052560" cy="41148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Advanced Airflow Architecture</a:t>
            </a:r>
            <a:endParaRPr lang="en-US" sz="1450" dirty="0"/>
          </a:p>
        </p:txBody>
      </p:sp>
      <p:sp>
        <p:nvSpPr>
          <p:cNvPr id="14" name="Text 11"/>
          <p:cNvSpPr txBox="1"/>
          <p:nvPr/>
        </p:nvSpPr>
        <p:spPr>
          <a:xfrm>
            <a:off x="2148840" y="3410712"/>
            <a:ext cx="9052560" cy="45720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Deferrable Operator + TaskFlow API + XCom ยืนยัน state จริงตรงตามออกแบบ</a:t>
            </a:r>
            <a:endParaRPr lang="en-US" sz="1150" dirty="0"/>
          </a:p>
        </p:txBody>
      </p:sp>
      <p:sp>
        <p:nvSpPr>
          <p:cNvPr id="15" name="Shape 12"/>
          <p:cNvSpPr/>
          <p:nvPr/>
        </p:nvSpPr>
        <p:spPr>
          <a:xfrm>
            <a:off x="548640" y="4078224"/>
            <a:ext cx="11064240" cy="1005840"/>
          </a:xfrm>
          <a:prstGeom prst="roundRect">
            <a:avLst>
              <a:gd name="adj" fmla="val 7273"/>
            </a:avLst>
          </a:prstGeom>
          <a:solidFill>
            <a:srgbClr val="F3F5FB"/>
          </a:solidFill>
          <a:ln/>
        </p:spPr>
      </p:sp>
      <p:sp>
        <p:nvSpPr>
          <p:cNvPr id="16" name="Shape 13"/>
          <p:cNvSpPr/>
          <p:nvPr/>
        </p:nvSpPr>
        <p:spPr>
          <a:xfrm>
            <a:off x="548640" y="4078224"/>
            <a:ext cx="1417320" cy="1005840"/>
          </a:xfrm>
          <a:prstGeom prst="roundRect">
            <a:avLst>
              <a:gd name="adj" fmla="val 7273"/>
            </a:avLst>
          </a:prstGeom>
          <a:solidFill>
            <a:srgbClr val="1E2761"/>
          </a:solidFill>
          <a:ln/>
        </p:spPr>
      </p:sp>
      <p:sp>
        <p:nvSpPr>
          <p:cNvPr id="17" name="Text 14"/>
          <p:cNvSpPr txBox="1"/>
          <p:nvPr/>
        </p:nvSpPr>
        <p:spPr>
          <a:xfrm>
            <a:off x="548640" y="4078224"/>
            <a:ext cx="1417320" cy="100584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25%</a:t>
            </a:r>
            <a:endParaRPr lang="en-US" sz="2200" dirty="0"/>
          </a:p>
        </p:txBody>
      </p:sp>
      <p:sp>
        <p:nvSpPr>
          <p:cNvPr id="18" name="Text 15"/>
          <p:cNvSpPr txBox="1"/>
          <p:nvPr/>
        </p:nvSpPr>
        <p:spPr>
          <a:xfrm>
            <a:off x="2148840" y="4169664"/>
            <a:ext cx="9052560" cy="41148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Architectural Report &amp; Trade-offs</a:t>
            </a:r>
            <a:endParaRPr lang="en-US" sz="1450" dirty="0"/>
          </a:p>
        </p:txBody>
      </p:sp>
      <p:sp>
        <p:nvSpPr>
          <p:cNvPr id="19" name="Text 16"/>
          <p:cNvSpPr txBox="1"/>
          <p:nvPr/>
        </p:nvSpPr>
        <p:spPr>
          <a:xfrm>
            <a:off x="2148840" y="4581144"/>
            <a:ext cx="9052560" cy="45720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Benchmark ตัวเลขจริง + ข้อเสนอ Scalability สำหรับ 10,000 TPS</a:t>
            </a:r>
            <a:endParaRPr lang="en-US" sz="1150" dirty="0"/>
          </a:p>
        </p:txBody>
      </p:sp>
      <p:sp>
        <p:nvSpPr>
          <p:cNvPr id="20" name="Shape 17"/>
          <p:cNvSpPr/>
          <p:nvPr/>
        </p:nvSpPr>
        <p:spPr>
          <a:xfrm>
            <a:off x="548640" y="5248656"/>
            <a:ext cx="11064240" cy="1005840"/>
          </a:xfrm>
          <a:prstGeom prst="roundRect">
            <a:avLst>
              <a:gd name="adj" fmla="val 7273"/>
            </a:avLst>
          </a:prstGeom>
          <a:solidFill>
            <a:srgbClr val="F3F5FB"/>
          </a:solidFill>
          <a:ln/>
        </p:spPr>
      </p:sp>
      <p:sp>
        <p:nvSpPr>
          <p:cNvPr id="21" name="Shape 18"/>
          <p:cNvSpPr/>
          <p:nvPr/>
        </p:nvSpPr>
        <p:spPr>
          <a:xfrm>
            <a:off x="548640" y="5248656"/>
            <a:ext cx="1417320" cy="1005840"/>
          </a:xfrm>
          <a:prstGeom prst="roundRect">
            <a:avLst>
              <a:gd name="adj" fmla="val 7273"/>
            </a:avLst>
          </a:prstGeom>
          <a:solidFill>
            <a:srgbClr val="1E2761"/>
          </a:solidFill>
          <a:ln/>
        </p:spPr>
      </p:sp>
      <p:sp>
        <p:nvSpPr>
          <p:cNvPr id="22" name="Text 19"/>
          <p:cNvSpPr txBox="1"/>
          <p:nvPr/>
        </p:nvSpPr>
        <p:spPr>
          <a:xfrm>
            <a:off x="548640" y="5248656"/>
            <a:ext cx="1417320" cy="100584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20%</a:t>
            </a:r>
            <a:endParaRPr lang="en-US" sz="2200" dirty="0"/>
          </a:p>
        </p:txBody>
      </p:sp>
      <p:sp>
        <p:nvSpPr>
          <p:cNvPr id="23" name="Text 20"/>
          <p:cNvSpPr txBox="1"/>
          <p:nvPr/>
        </p:nvSpPr>
        <p:spPr>
          <a:xfrm>
            <a:off x="2148840" y="5340096"/>
            <a:ext cx="9052560" cy="41148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Dashboard &amp; Public Deployment</a:t>
            </a:r>
            <a:endParaRPr lang="en-US" sz="1450" dirty="0"/>
          </a:p>
        </p:txBody>
      </p:sp>
      <p:sp>
        <p:nvSpPr>
          <p:cNvPr id="24" name="Text 21"/>
          <p:cNvSpPr txBox="1"/>
          <p:nvPr/>
        </p:nvSpPr>
        <p:spPr>
          <a:xfrm>
            <a:off x="2148840" y="5751576"/>
            <a:ext cx="9052560" cy="45720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Live บน Streamlit Cloud ผ่าน HTTPS จริง · Neon PostgreSQL สาธารณะ</a:t>
            </a:r>
            <a:endParaRPr lang="en-US" sz="1150" dirty="0"/>
          </a:p>
        </p:txBody>
      </p:sp>
      <p:sp>
        <p:nvSpPr>
          <p:cNvPr id="25" name="Slide Number Placeholder 0"/>
          <p:cNvSpPr>
            <a:spLocks noGrp="1"/>
          </p:cNvSpPr>
          <p:nvPr>
            <p:ph type="sldNum" sz="quarter" idx="4294967295"/>
          </p:nvPr>
        </p:nvSpPr>
        <p:spPr>
          <a:xfrm>
            <a:off x="1156716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Shape 0"/>
          <p:cNvSpPr/>
          <p:nvPr/>
        </p:nvSpPr>
        <p:spPr>
          <a:xfrm>
            <a:off x="-1463040" y="-1645920"/>
            <a:ext cx="4754880" cy="4754880"/>
          </a:xfrm>
          <a:prstGeom prst="ellipse">
            <a:avLst/>
          </a:prstGeom>
          <a:solidFill>
            <a:srgbClr val="26307A"/>
          </a:solidFill>
          <a:ln/>
        </p:spPr>
      </p:sp>
      <p:sp>
        <p:nvSpPr>
          <p:cNvPr id="4" name="Shape 1"/>
          <p:cNvSpPr/>
          <p:nvPr/>
        </p:nvSpPr>
        <p:spPr>
          <a:xfrm>
            <a:off x="9875520" y="4389120"/>
            <a:ext cx="3840480" cy="3840480"/>
          </a:xfrm>
          <a:prstGeom prst="ellipse">
            <a:avLst/>
          </a:prstGeom>
          <a:solidFill>
            <a:srgbClr val="26307A"/>
          </a:solidFill>
          <a:ln/>
        </p:spPr>
      </p:sp>
      <p:sp>
        <p:nvSpPr>
          <p:cNvPr id="5" name="Text 2"/>
          <p:cNvSpPr txBox="1"/>
          <p:nvPr/>
        </p:nvSpPr>
        <p:spPr>
          <a:xfrm>
            <a:off x="822960" y="2468880"/>
            <a:ext cx="10515600" cy="10058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ขอบคุณครับ</a:t>
            </a:r>
            <a:endParaRPr lang="en-US" sz="4400" dirty="0"/>
          </a:p>
        </p:txBody>
      </p:sp>
      <p:sp>
        <p:nvSpPr>
          <p:cNvPr id="6" name="Text 3"/>
          <p:cNvSpPr txBox="1"/>
          <p:nvPr/>
        </p:nvSpPr>
        <p:spPr>
          <a:xfrm>
            <a:off x="822960" y="3337560"/>
            <a:ext cx="10515600" cy="548640"/>
          </a:xfrm>
          <a:prstGeom prst="rect">
            <a:avLst/>
          </a:prstGeom>
          <a:noFill/>
          <a:ln/>
        </p:spPr>
        <p:txBody>
          <a:bodyPr wrap="square" lIns="0" tIns="0" rIns="0" bIns="0" rtlCol="0" anchor="ctr"/>
          <a:lstStyle/>
          <a:p>
            <a:pPr indent="0" marL="0">
              <a:buNone/>
            </a:pPr>
            <a:r>
              <a:rPr lang="en-US" sz="1800" spc="400" kern="0" dirty="0">
                <a:solidFill>
                  <a:srgbClr val="CADCFC"/>
                </a:solidFill>
                <a:latin typeface="Calibri" pitchFamily="34" charset="0"/>
                <a:ea typeface="Calibri" pitchFamily="34" charset="-122"/>
                <a:cs typeface="Calibri" pitchFamily="34" charset="-120"/>
              </a:rPr>
              <a:t>Q &amp; A</a:t>
            </a:r>
            <a:endParaRPr lang="en-US" sz="1800" dirty="0"/>
          </a:p>
        </p:txBody>
      </p:sp>
      <p:sp>
        <p:nvSpPr>
          <p:cNvPr id="7" name="Text 4"/>
          <p:cNvSpPr txBox="1"/>
          <p:nvPr/>
        </p:nvSpPr>
        <p:spPr>
          <a:xfrm>
            <a:off x="822960" y="5852160"/>
            <a:ext cx="5486400" cy="6400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นายกันต์กวี รามศรี</a:t>
            </a:r>
            <a:endParaRPr lang="en-US" sz="1400" dirty="0"/>
          </a:p>
          <a:p>
            <a:pPr indent="0" marL="0">
              <a:buNone/>
            </a:pPr>
            <a:r>
              <a:rPr lang="en-US" sz="1200" dirty="0">
                <a:solidFill>
                  <a:srgbClr val="CADCFC"/>
                </a:solidFill>
                <a:latin typeface="Calibri" pitchFamily="34" charset="0"/>
                <a:ea typeface="Calibri" pitchFamily="34" charset="-122"/>
                <a:cs typeface="Calibri" pitchFamily="34" charset="-120"/>
              </a:rPr>
              <a:t>รหัสนักศึกษา 6900102365</a:t>
            </a:r>
            <a:endParaRPr lang="en-US" sz="1400" dirty="0"/>
          </a:p>
        </p:txBody>
      </p:sp>
      <p:sp>
        <p:nvSpPr>
          <p:cNvPr id="25" name="Slide Number Placeholder 0"/>
          <p:cNvSpPr>
            <a:spLocks noGrp="1"/>
          </p:cNvSpPr>
          <p:nvPr>
            <p:ph type="sldNum" sz="quarter" idx="4294967295"/>
          </p:nvPr>
        </p:nvSpPr>
        <p:spPr>
          <a:xfrm>
            <a:off x="1156716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CADCFC"/>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2026-09-14T14:37:01Z</dcterms:created>
  <dcterms:modified xsi:type="dcterms:W3CDTF">2026-09-14T14:37:01Z</dcterms:modified>
</cp:coreProperties>
</file>