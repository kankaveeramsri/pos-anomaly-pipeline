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อัตรา Transaction ต่อ Batch — พุ่งขึ้น 10 เท่าช่วง Flash Sale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Records ต่อ Batch (5 วินาที)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761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ADCF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ADCF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ปกติ
(t=0-20s)</c:v>
                  </c:pt>
                  <c:pt idx="1">
                    <c:v>Flash Sale
(t=25-40s)</c:v>
                  </c:pt>
                  <c:pt idx="2">
                    <c:v>กลับสู่ปกติ
(t=45-95s)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</c:v>
                </c:pt>
                <c:pt idx="1">
                  <c:v>100</c:v>
                </c:pt>
                <c:pt idx="2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761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1E2761"/>
                </a:solidFill>
                <a:latin typeface="Calibri"/>
              </a:rPr>
              <a:t>ยอดขายรายช่วงเวลา (ข้อมูลจริงจาก pos_data) — Flash Sale ชัดเจน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(THB)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46:30</c:v>
                  </c:pt>
                  <c:pt idx="1">
                    <c:v>46:45</c:v>
                  </c:pt>
                  <c:pt idx="2">
                    <c:v>47:00</c:v>
                  </c:pt>
                  <c:pt idx="3">
                    <c:v>47:15</c:v>
                  </c:pt>
                  <c:pt idx="4">
                    <c:v>47:30</c:v>
                  </c:pt>
                  <c:pt idx="5">
                    <c:v>47:45</c:v>
                  </c:pt>
                  <c:pt idx="6">
                    <c:v>48:00</c:v>
                  </c:pt>
                  <c:pt idx="7">
                    <c:v>48:15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1150</c:v>
                </c:pt>
                <c:pt idx="1">
                  <c:v>3764</c:v>
                </c:pt>
                <c:pt idx="2">
                  <c:v>25677</c:v>
                </c:pt>
                <c:pt idx="3">
                  <c:v>24198</c:v>
                </c:pt>
                <c:pt idx="4">
                  <c:v>3233</c:v>
                </c:pt>
                <c:pt idx="5">
                  <c:v>4433</c:v>
                </c:pt>
                <c:pt idx="6">
                  <c:v>3274</c:v>
                </c:pt>
                <c:pt idx="7">
                  <c:v>1093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E7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47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" cy="91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389120" cy="4389120"/>
          </a:xfrm>
          <a:prstGeom prst="ellipse">
            <a:avLst/>
          </a:prstGeom>
          <a:solidFill>
            <a:srgbClr val="26307A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754880"/>
            <a:ext cx="3291840" cy="3291840"/>
          </a:xfrm>
          <a:prstGeom prst="ellipse">
            <a:avLst/>
          </a:prstGeom>
          <a:solidFill>
            <a:srgbClr val="26307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DATA PIPELINE ARCHITECTURE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Data Pipeline Architecture &amp; Anomaly Detection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for Enterprise POS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033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1-4: Workload Generation · Resilient Airflow Ingestion · Live Analytics Dashboard · Architectural Benchmark Report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937760"/>
            <a:ext cx="5120640" cy="1234440"/>
          </a:xfrm>
          <a:prstGeom prst="rect">
            <a:avLst/>
          </a:prstGeom>
          <a:solidFill>
            <a:srgbClr val="141B4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051560" y="507492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นายกันต์กวี รามศรี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รหัสนักศึกษา 6900102365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นำเสนอวันที่ 15 กันยายน 2569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วัตถุประสงค์และขอบเขตการนำเสนอ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3F5FB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3911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03911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91109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Advanced Workload &amp; Edge Case Generation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29514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Flash Sale, Late-Arriving Data และ Data Quality Issues ในระบบ POS จริง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3F5FB"/>
          </a:solidFill>
          <a:ln/>
        </p:spPr>
      </p:sp>
      <p:sp>
        <p:nvSpPr>
          <p:cNvPr id="10" name="Shape 8"/>
          <p:cNvSpPr/>
          <p:nvPr/>
        </p:nvSpPr>
        <p:spPr>
          <a:xfrm>
            <a:off x="868680" y="322783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68680" y="32278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09981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Resilient Airflow Ingestion Pipeline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48386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Deferrable Operator, TaskFlow API, Idempotency และ Dynamic Alerting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416052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3F5FB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44165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4416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28853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Live Analytics Dashboard &amp; Secure Deployment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467258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พร้อม Moving Average และ Anomaly Highlighting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3492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3F5FB"/>
          </a:solidFill>
          <a:ln/>
        </p:spPr>
      </p:sp>
      <p:sp>
        <p:nvSpPr>
          <p:cNvPr id="20" name="Shape 18"/>
          <p:cNvSpPr/>
          <p:nvPr/>
        </p:nvSpPr>
        <p:spPr>
          <a:xfrm>
            <a:off x="868680" y="560527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68680" y="56052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547725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Architectural Report &amp; Performance Analysis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691640" y="5861304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เชิงตัวเลข และข้อเสนอสถาปัตยกรรมสำหรับ 10,000 TPS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ภาพรวมสถาปัตยกรรมของระบบ (End-to-End)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94360" y="23317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3F5FB"/>
          </a:solidFill>
          <a:ln/>
        </p:spPr>
      </p:sp>
      <p:sp>
        <p:nvSpPr>
          <p:cNvPr id="5" name="Shape 3"/>
          <p:cNvSpPr/>
          <p:nvPr/>
        </p:nvSpPr>
        <p:spPr>
          <a:xfrm>
            <a:off x="1330452" y="249631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30452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535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Generator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37413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script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798064" y="23317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3F5FB"/>
          </a:solidFill>
          <a:ln/>
        </p:spPr>
      </p:sp>
      <p:sp>
        <p:nvSpPr>
          <p:cNvPr id="11" name="Shape 9"/>
          <p:cNvSpPr/>
          <p:nvPr/>
        </p:nvSpPr>
        <p:spPr>
          <a:xfrm>
            <a:off x="3534156" y="249631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34156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843784" y="29535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843784" y="337413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JSONL batch files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4672584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01768" y="23317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/>
        </p:spPr>
      </p:sp>
      <p:sp>
        <p:nvSpPr>
          <p:cNvPr id="17" name="Shape 15"/>
          <p:cNvSpPr/>
          <p:nvPr/>
        </p:nvSpPr>
        <p:spPr>
          <a:xfrm>
            <a:off x="5737860" y="2496312"/>
            <a:ext cx="402336" cy="40233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737860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047488" y="29535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Airflow DAG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047488" y="337413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Deferrable Sensor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TaskFlow API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876288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205472" y="23317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3F5FB"/>
          </a:solidFill>
          <a:ln/>
        </p:spPr>
      </p:sp>
      <p:sp>
        <p:nvSpPr>
          <p:cNvPr id="23" name="Shape 21"/>
          <p:cNvSpPr/>
          <p:nvPr/>
        </p:nvSpPr>
        <p:spPr>
          <a:xfrm>
            <a:off x="7941564" y="249631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941564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251192" y="29535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7251192" y="337413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pos_transactions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(idempotent upsert)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079992" y="2331720"/>
            <a:ext cx="3291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409176" y="2331720"/>
            <a:ext cx="1874520" cy="1371600"/>
          </a:xfrm>
          <a:prstGeom prst="roundRect">
            <a:avLst>
              <a:gd name="adj" fmla="val 5333"/>
            </a:avLst>
          </a:prstGeom>
          <a:solidFill>
            <a:srgbClr val="F3F5FB"/>
          </a:solidFill>
          <a:ln/>
        </p:spPr>
      </p:sp>
      <p:sp>
        <p:nvSpPr>
          <p:cNvPr id="29" name="Shape 27"/>
          <p:cNvSpPr/>
          <p:nvPr/>
        </p:nvSpPr>
        <p:spPr>
          <a:xfrm>
            <a:off x="10145268" y="249631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145268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454896" y="295351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9454896" y="3374136"/>
            <a:ext cx="1783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avg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highlight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434840" y="4160520"/>
            <a:ext cx="3337560" cy="868680"/>
          </a:xfrm>
          <a:prstGeom prst="roundRect">
            <a:avLst>
              <a:gd name="adj" fmla="val 8421"/>
            </a:avLst>
          </a:prstGeom>
          <a:solidFill>
            <a:srgbClr val="FBEAE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43484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0" y="4297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Alert → Telegram / Slack Webhook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53949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ทุกขั้นตอนออกแบบให้ Idempotent — รัน DAG ซ้ำกี่ครั้ง ข้อมูลใน PostgreSQL จะไม่ซ้ำซ้อน (ยืนยันด้วยการทดสอบจริง)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Advanced Workload &amp; Edge Case Generation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จำลองสถานการณ์จริงของระบบ POS ด้วย Python script (scripts/workload_generator.py) เพิ่มเติมจากยอดขายปกติ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3F5FB"/>
          </a:solidFill>
          <a:ln/>
        </p:spPr>
      </p:sp>
      <p:sp>
        <p:nvSpPr>
          <p:cNvPr id="6" name="Shape 4"/>
          <p:cNvSpPr/>
          <p:nvPr/>
        </p:nvSpPr>
        <p:spPr>
          <a:xfrm>
            <a:off x="1531620" y="2423160"/>
            <a:ext cx="731520" cy="73152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3162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3375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 Sale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ยอดขายพุ่งสูงขึ้น 10 เท่าชั่วขณะ (configurable burst window)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429000" y="214884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3F5FB"/>
          </a:solidFill>
          <a:ln/>
        </p:spPr>
      </p:sp>
      <p:sp>
        <p:nvSpPr>
          <p:cNvPr id="11" name="Shape 9"/>
          <p:cNvSpPr/>
          <p:nvPr/>
        </p:nvSpPr>
        <p:spPr>
          <a:xfrm>
            <a:off x="4411980" y="24231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41198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33375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Late-Arriving Data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1188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event_time ล่าช้ากว่าเวลาจริง จำลอง Network/Device Latency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214884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3F5FB"/>
          </a:solidFill>
          <a:ln/>
        </p:spPr>
      </p:sp>
      <p:sp>
        <p:nvSpPr>
          <p:cNvPr id="16" name="Shape 14"/>
          <p:cNvSpPr/>
          <p:nvPr/>
        </p:nvSpPr>
        <p:spPr>
          <a:xfrm>
            <a:off x="7292340" y="242316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9234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33375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Transaction ID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ยิง transaction_id ซ้ำจากรายการก่อนหน้าโดยตั้งใจ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189720" y="2148840"/>
            <a:ext cx="2697480" cy="2834640"/>
          </a:xfrm>
          <a:prstGeom prst="roundRect">
            <a:avLst>
              <a:gd name="adj" fmla="val 2712"/>
            </a:avLst>
          </a:prstGeom>
          <a:solidFill>
            <a:srgbClr val="F3F5FB"/>
          </a:solidFill>
          <a:ln/>
        </p:spPr>
      </p:sp>
      <p:sp>
        <p:nvSpPr>
          <p:cNvPr id="21" name="Shape 19"/>
          <p:cNvSpPr/>
          <p:nvPr/>
        </p:nvSpPr>
        <p:spPr>
          <a:xfrm>
            <a:off x="10172700" y="2423160"/>
            <a:ext cx="731520" cy="73152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172700" y="24231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33756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Total Amount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372600" y="397764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จำลอง Total Amount ติดลบ เพื่อทดสอบ Data Quality Validation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scripts/workload_generator.py — CLI configurable: --flash-sale-at, --late-arrival-rate, --duplicate-rate, --negative-amount-rate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 — ผลการทดลองจริง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ผลการรัน Workload Generator บนระบบจริง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57607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629400" y="1691640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3F5FB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0" y="180136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560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686800" y="169164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Records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ที่สร้างทั้งหมด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629400" y="3017520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3F5F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0" y="312724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686800" y="301752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 Inject โดยตั้งใจ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629400" y="4343400"/>
            <a:ext cx="4983480" cy="1143000"/>
          </a:xfrm>
          <a:prstGeom prst="roundRect">
            <a:avLst>
              <a:gd name="adj" fmla="val 6400"/>
            </a:avLst>
          </a:prstGeom>
          <a:solidFill>
            <a:srgbClr val="F3F5F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858000" y="4453128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10×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0" y="4343400"/>
            <a:ext cx="2788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Peak Multiplier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ช่วง Flash Sale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5715000"/>
            <a:ext cx="4983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ทดสอบจริงด้วยคำสั่ง: python workload_generator.py --duration 100 --flash-sale-at 25 --flash-sale-multiplier 10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Resilient Airflow Ingestion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dags/pos_ingestion_pipeline.py — ออกแบบตามมาตรฐาน Clean Code ด้วย TaskFlow API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3F5FB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304288"/>
            <a:ext cx="128016" cy="512064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97280" y="21945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Deferrable Operator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21945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FileSensor(deferrable=True) แทน mode='poke' — คืน Worker Slot ระหว่างรอไฟล์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355848"/>
            <a:ext cx="128016" cy="512064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97280" y="32461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TaskFlow API + XCom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480560" y="324612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@dag / @task decorator ส่งข้อมูลระหว่าง task ผ่าน XCom ตลอด pipeline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3F5FB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4407408"/>
            <a:ext cx="128016" cy="512064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97280" y="42976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&amp; Cleanse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4480560" y="42976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... ON CONFLICT DO UPDATE — รัน DAG ซ้ำข้อมูลไม่ซ้ำซ้อน 100%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7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5458968"/>
            <a:ext cx="128016" cy="512064"/>
          </a:xfrm>
          <a:prstGeom prst="roundRect">
            <a:avLst>
              <a:gd name="adj" fmla="val 14286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97280" y="534924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Alerting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4480560" y="53492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แจ้งเตือนอัตโนมัติผ่าน Telegram/Slack Webhook เมื่อพบ Anomaly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RESOURCE OPTIMIZATION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Deferrable Operator vs. FileSensor แบบดั้งเดิม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3F5F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65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mode='poke'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560320"/>
            <a:ext cx="3063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5603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"running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(ตลอดการรอ)"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375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ครอบครอง Worker Slot ตลอดเวลา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25112" y="173736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F3F5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53712" y="1965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mode='reschedule'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53712" y="2560320"/>
            <a:ext cx="30632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53712" y="25603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"up_for_reschedule"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3375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คืน Slot ระหว่างรอบ poke_interval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01584" y="1737360"/>
            <a:ext cx="3520440" cy="3246120"/>
          </a:xfrm>
          <a:prstGeom prst="roundRect">
            <a:avLst>
              <a:gd name="adj" fmla="val 2254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30184" y="196596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deferrable=True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330184" y="2560320"/>
            <a:ext cx="3063240" cy="502920"/>
          </a:xfrm>
          <a:prstGeom prst="roundRect">
            <a:avLst>
              <a:gd name="adj" fmla="val 10909"/>
            </a:avLst>
          </a:prstGeom>
          <a:solidFill>
            <a:srgbClr val="CADCF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30184" y="2560320"/>
            <a:ext cx="3063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= "deferred"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333756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คืน Slot ทั้งหมด — Triggerer จัดการแทน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ยืนยันด้วยการรันจริง: benchmark_sensors.py วัด task_states_seen ของทั้ง 3 DAG ตรงตามที่ออกแบบไว้ทุกกรณี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IDEMPOTENCY &amp; DATA CLEANSE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รัน DAG ซ้ำกี่ครั้ง ข้อมูลก็ไม่ซ้ำซ้อน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6309360" cy="3200400"/>
          </a:xfrm>
          <a:prstGeom prst="roundRect">
            <a:avLst>
              <a:gd name="adj" fmla="val 2286"/>
            </a:avLst>
          </a:prstGeom>
          <a:solidFill>
            <a:srgbClr val="1A1F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 INTO pos_transactions (...)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 (...)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 CONFLICT (transaction_id)
</a:t>
            </a:r>
            <a:pPr indent="0" marL="0">
              <a:lnSpc>
                <a:spcPts val="2000"/>
              </a:lnSpc>
              <a:buNone/>
            </a:pPr>
            <a:r>
              <a:rPr lang="en-US" sz="125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UPDATE SET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total_amount = EXCLUDED.total_amount,
    is_anomaly    = EXCLUDED.is_anomaly,
    updated_at    = now()
</a:t>
            </a:r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RETURNING (xmax = 0) AS was_insert;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086600" y="1645920"/>
            <a:ext cx="4526280" cy="1463040"/>
          </a:xfrm>
          <a:prstGeom prst="roundRect">
            <a:avLst>
              <a:gd name="adj" fmla="val 5000"/>
            </a:avLst>
          </a:prstGeom>
          <a:solidFill>
            <a:srgbClr val="F3F5F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78308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ผลทดสอบจริง (reprocess ไฟล์เดิมซ้ำ 2 ครั้ง)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269480" y="214884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 </a:t>
            </a:r>
            <a:pPr indent="0" marL="0">
              <a:buNone/>
            </a:pPr>
            <a:r>
              <a:rPr lang="en-US" sz="20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rows (ไม่เปลี่ยน)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7086600" y="3291840"/>
            <a:ext cx="4526280" cy="1554480"/>
          </a:xfrm>
          <a:prstGeom prst="roundRect">
            <a:avLst>
              <a:gd name="adj" fmla="val 4706"/>
            </a:avLst>
          </a:prstGeom>
          <a:solidFill>
            <a:srgbClr val="FBEA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269480" y="342900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ไม่ถูกทิ้ง แต่ถูก Flag ไว้ตรวจสอบ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269480" y="3794760"/>
            <a:ext cx="4160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duplicate_in_batch · late_arrival · negative_total_amount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บันทึกลง pos_anomalies พร้อม UNIQUE(transaction_id, anomaly_type) ป้องกัน log ซ้ำ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late_arrival วัดจาก file landing time (mtime) ไม่ใช่ wall-clock ขณะประมวลผล — เพื่อให้ผล deterministic ทุกครั้งที่ rerun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 — DYNAMIC ALERTING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ระบบแจ้งเตือนอัตโนมัติเมื่อพบ Anomaly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3F5FB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743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load_to_postgres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นับจำนวน anomaly ที่พบในแต่ละ batch ผ่าน XCom summary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069080" y="1920240"/>
            <a:ext cx="256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25112" y="19202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3F5FB"/>
          </a:solidFill>
          <a:ln/>
        </p:spPr>
      </p:sp>
      <p:sp>
        <p:nvSpPr>
          <p:cNvPr id="11" name="Shape 9"/>
          <p:cNvSpPr/>
          <p:nvPr/>
        </p:nvSpPr>
        <p:spPr>
          <a:xfrm>
            <a:off x="4553712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53712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2743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check_and_alert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553712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ตรวจสอบ anomaly_count &gt; 0 แล้วประกอบข้อความแจ้งเตือน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845552" y="1920240"/>
            <a:ext cx="256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101584" y="19202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3F5FB"/>
          </a:solidFill>
          <a:ln/>
        </p:spPr>
      </p:sp>
      <p:sp>
        <p:nvSpPr>
          <p:cNvPr id="17" name="Shape 15"/>
          <p:cNvSpPr/>
          <p:nvPr/>
        </p:nvSpPr>
        <p:spPr>
          <a:xfrm>
            <a:off x="8330184" y="21488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30184" y="2148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330184" y="2743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Dispatch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30184" y="315468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ส่งผ่าน Telegram Bot API หรือ Slack Incoming Webhook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1622024" y="1920240"/>
            <a:ext cx="25603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548640" y="41605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1A1F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22960" y="43434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 anomaly alert: 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anomalous transaction(s) out of 30 in this batch (24 new, 6 reloaded).
</a:t>
            </a:r>
            <a:pPr indent="0" marL="0">
              <a:lnSpc>
                <a:spcPts val="2000"/>
              </a:lnSpc>
              <a:buNone/>
            </a:pPr>
            <a:r>
              <a:rPr lang="en-US" sz="1200" i="1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ไม่มี BOT token → ระบบ log ข้อความเดียวกันแบบ dry-run โดยไม่ทำให้ DAG fail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Analytics Dashboard (Streamlit)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08760"/>
          <a:ext cx="69494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800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คำนวณ Moving Average ซ้อนทับกราฟยอดขาย และไฮไลต์แถวที่เป็น Anomaly ด้วยสีแดงในตาราง Transaction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7772400" y="155448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55280" y="15544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542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9509760" y="155448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Transactions Loaded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0" y="269748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955280" y="26974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9509760" y="269748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Anomalies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772400" y="3840480"/>
            <a:ext cx="3840480" cy="960120"/>
          </a:xfrm>
          <a:prstGeom prst="roundRect">
            <a:avLst>
              <a:gd name="adj" fmla="val 7619"/>
            </a:avLst>
          </a:prstGeom>
          <a:solidFill>
            <a:srgbClr val="F3F5F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955280" y="38404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10.7%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9509760" y="3840480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Rate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 — SECURE 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การเปิดใช้งาน Dashboard ผ่าน HTTPS Domain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3F5FB"/>
          </a:solidFill>
          <a:ln/>
        </p:spPr>
      </p:sp>
      <p:sp>
        <p:nvSpPr>
          <p:cNvPr id="5" name="Shape 3"/>
          <p:cNvSpPr/>
          <p:nvPr/>
        </p:nvSpPr>
        <p:spPr>
          <a:xfrm>
            <a:off x="822960" y="212140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193852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Code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257800" y="193852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dashboard/app.py พร้อม requirements.txt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464040" y="193852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เสร็จสมบูรณ์ — ทดสอบ Local ผ่าน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3F5FB"/>
          </a:solidFill>
          <a:ln/>
        </p:spPr>
      </p:sp>
      <p:sp>
        <p:nvSpPr>
          <p:cNvPr id="11" name="Shape 9"/>
          <p:cNvSpPr/>
          <p:nvPr/>
        </p:nvSpPr>
        <p:spPr>
          <a:xfrm>
            <a:off x="822960" y="3355848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33558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317296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Verification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257800" y="317296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run app.py — ต่อ Postgres จริง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464040" y="317296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เสร็จสมบูรณ์ — ยืนยันด้วย Screenshot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97680"/>
            <a:ext cx="11064240" cy="1051560"/>
          </a:xfrm>
          <a:prstGeom prst="roundRect">
            <a:avLst>
              <a:gd name="adj" fmla="val 6957"/>
            </a:avLst>
          </a:prstGeom>
          <a:solidFill>
            <a:srgbClr val="F3F5FB"/>
          </a:solidFill>
          <a:ln/>
        </p:spPr>
      </p:sp>
      <p:sp>
        <p:nvSpPr>
          <p:cNvPr id="17" name="Shape 15"/>
          <p:cNvSpPr/>
          <p:nvPr/>
        </p:nvSpPr>
        <p:spPr>
          <a:xfrm>
            <a:off x="822960" y="4590288"/>
            <a:ext cx="457200" cy="45720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2960" y="45902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407408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HTTPS Deploy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257800" y="4407408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 + GitHub Repo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464040" y="44074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ขั้นตอนถัดไป — ต้องใช้บัญชีส่วนตัว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แผน: push โค้ดขึ้น GitHub → เชื่อม Streamlit Community Cloud → ตั้งค่า DATABASE_URL เป็น secret → ได้โดเมน HTTPS ฟรี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BENCHMARK METHODOLOGY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วิธีการวัดผล Poke vs Reschedule vs Deferrable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dags/sensor_benchmark_dags.py — สร้าง 3 DAG ที่เหมือนกันทุกจุด ต่างกันเฉพาะ Sensor Mode เพื่อตัดตัวแปรกวน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2240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21945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ทั้ง 3 DAG โดยยังไม่มี trigger file (บังคับให้ sensor ต้องรอจริง)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53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90779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สุ่มตัวอย่างทุก 5 วินาที เป็นเวลา 30 วินาที: Task State + docker stats (CPU/Memory) ของ scheduler และ triggerer container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48640" y="366674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666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62102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วาง trigger file เพื่อปลด sensor แล้วบันทึก final DAG run state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37997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379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433425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เขียนผลลง report/benchmark_results.csv สำหรับวิเคราะห์ต่อ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11064240" cy="685800"/>
          </a:xfrm>
          <a:prstGeom prst="roundRect">
            <a:avLst>
              <a:gd name="adj" fmla="val 10667"/>
            </a:avLst>
          </a:prstGeom>
          <a:solidFill>
            <a:srgbClr val="F3F5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77240" y="52578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รันจริงบน docker-compose stack (Airflow 2.10.3 + Postgres 15) ในโปรเจกต์นี้ — ไม่ใช่ผลจำลอง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ผลการทดลองจริง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ผลลัพธ์ Benchmark: Worker Slot Occupancy</a:t>
            </a:r>
            <a:endParaRPr lang="en-US" sz="3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2011680"/>
        </p:xfrm>
        <a:graphic>
          <a:graphicData uri="http://schemas.openxmlformats.org/drawingml/2006/table">
            <a:tbl>
              <a:tblPr/>
              <a:tblGrid>
                <a:gridCol w="2194560"/>
                <a:gridCol w="2834640"/>
                <a:gridCol w="2011680"/>
                <a:gridCol w="2011680"/>
                <a:gridCol w="201168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 Mode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State ระหว่างรอ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CPU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Worker Slot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poke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ครอบครองตลอด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up_for_reschedule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คืนบางส่วน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deferred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13.87%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คืนทั้งหมด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88620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ข้อสรุปสำคัญ: task_states_seen ตรงตามการออกแบบทุกกรณี — เป็นตัวชี้วัดที่แม่นยำกว่า CPU% ที่ขนาดการทดสอบเล็ก เพราะ CPU% ที่ scheduler ถูกครอบงำโดย housekeeping ของ Airflow เอง ไม่ใช่ sensor loop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475488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1A1F3D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493776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ที่ Scale ใหญ่ (หลายสิบ/หลายร้อย DAG run รอพร้อมกัน): poke ต้องใช้ 1 worker slot ต่อการรอ 1 ครั้งเสมอ, reschedule ต้อง requeue ผ่าน scheduler ทุกรอบ poke_interval, ส่วน deferrable ใช้เพียงหน่วยความจำเล็กน้อยใน Triggerer เท่านั้น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4 — SCALABILITY PROPOSAL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ข้อเสนอสถาปัตยกรรมสำหรับ 10,000 Transactions/วินาที</a:t>
            </a:r>
            <a:endParaRPr lang="en-US" sz="3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64240" cy="4114800"/>
        </p:xfrm>
        <a:graphic>
          <a:graphicData uri="http://schemas.openxmlformats.org/drawingml/2006/table">
            <a:tbl>
              <a:tblPr/>
              <a:tblGrid>
                <a:gridCol w="2377440"/>
                <a:gridCol w="4114800"/>
                <a:gridCol w="4572000"/>
              </a:tblGrid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ปัจจุบัน (Assignment)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ที่ 10,000 TPS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Ingestion Transport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File landing + FileSensor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Apache Kafka (partition by store_id)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Airflow batch DAG ทุก 2 นาที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Flink / Kafka Streams (continuous)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Idempotency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CONFLICT DO UPDATE (Postgres)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Kafka exactly-once + upsert key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Store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(row-store)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ClickHouse / Druid / BigQuery (columnar)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Detection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task ต่อ DAG 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Streaming CEP (rolling z-score)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B"/>
                    </a:solidFill>
                  </a:tcPr>
                </a:tc>
              </a:tr>
              <a:tr h="58782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Airflow task → Webhook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Dedicated consumer บน anomaly topic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6492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เหตุผล: หน่วยงานเดิมคือ "1 DAG run ต่อ 1 ไฟล์" ที่ 10,000 TPS หน่วยงานต้องเปลี่ยนเป็น "stream processing ต่อเนื่อง" — เป็นการเปลี่ยนเชิงคุณภาพ ไม่ใช่แค่ scale infra เดิมให้ใหญ่ขึ้น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สรุปผลลัพธ์เทียบกับเกณฑ์การประเมิน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3F5F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37360"/>
            <a:ext cx="141732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737360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148840" y="1828800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Resilience &amp; Data Quality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2240280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Idempotency ยืนยันด้วยการทดสอบจริง (58→58) · Anomaly ถูก flag ไม่ถูกทิ้ง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2907792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3F5FB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907792"/>
            <a:ext cx="141732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907792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2999232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Airflow Architecture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148840" y="3410712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Deferrable Operator + TaskFlow API + XCom ยืนยัน state จริงตรงตามออกแบบ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4078224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3F5FB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4078224"/>
            <a:ext cx="141732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078224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25%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2148840" y="4169664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Architectural Report &amp; Trade-offs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2148840" y="45811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ตัวเลขจริง + ข้อเสนอ Scalability สำหรับ 10,000 TPS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5248656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3F5FB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5248656"/>
            <a:ext cx="1417320" cy="1005840"/>
          </a:xfrm>
          <a:prstGeom prst="roundRect">
            <a:avLst>
              <a:gd name="adj" fmla="val 7273"/>
            </a:avLst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248656"/>
            <a:ext cx="1417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2148840" y="5340096"/>
            <a:ext cx="9052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Public Deployment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2148840" y="5751576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ทำงานสมบูรณ์ (Local) · รอ Deploy HTTPS Domain สาธารณะ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47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754880" cy="4754880"/>
          </a:xfrm>
          <a:prstGeom prst="ellipse">
            <a:avLst/>
          </a:prstGeom>
          <a:solidFill>
            <a:srgbClr val="26307A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389120"/>
            <a:ext cx="3840480" cy="3840480"/>
          </a:xfrm>
          <a:prstGeom prst="ellipse">
            <a:avLst/>
          </a:prstGeom>
          <a:solidFill>
            <a:srgbClr val="26307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46888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ขอบคุณครับ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3375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85216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นายกันต์กวี รามศรี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รหัสนักศึกษา 6900102365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67160" y="649224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ADCFC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2026-09-14T04:02:25Z</dcterms:created>
  <dcterms:modified xsi:type="dcterms:W3CDTF">2026-09-14T04:02:25Z</dcterms:modified>
</cp:coreProperties>
</file>